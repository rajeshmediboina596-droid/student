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9"/>
  </p:notesMasterIdLst>
  <p:sldIdLst>
    <p:sldId id="256" r:id="rId2"/>
    <p:sldId id="257" r:id="rId3"/>
    <p:sldId id="258" r:id="rId4"/>
    <p:sldId id="260" r:id="rId5"/>
    <p:sldId id="261" r:id="rId6"/>
    <p:sldId id="262" r:id="rId7"/>
    <p:sldId id="263" r:id="rId8"/>
  </p:sldIdLst>
  <p:sldSz cx="9144000" cy="5143500" type="screen16x9"/>
  <p:notesSz cx="51435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9" d="100"/>
          <a:sy n="99" d="100"/>
        </p:scale>
        <p:origin x="54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31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hyperlink" Target="http://www.telerik.com/"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9144000" cy="5143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prstClr val="white"/>
              </a:solidFill>
            </a:endParaRPr>
          </a:p>
        </p:txBody>
      </p:sp>
      <p:sp>
        <p:nvSpPr>
          <p:cNvPr id="13" name="Rectangle 12"/>
          <p:cNvSpPr/>
          <p:nvPr/>
        </p:nvSpPr>
        <p:spPr>
          <a:xfrm>
            <a:off x="0" y="0"/>
            <a:ext cx="9144000" cy="5143500"/>
          </a:xfrm>
          <a:prstGeom prst="rect">
            <a:avLst/>
          </a:prstGeom>
          <a:blipFill>
            <a:blip r:embed="rId2" cstate="print">
              <a:alphaModFix amt="5000"/>
            </a:blip>
            <a:stretch>
              <a:fillRect l="30000" t="30000" r="30000" b="30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solidFill>
                <a:prstClr val="white"/>
              </a:solidFill>
            </a:endParaRPr>
          </a:p>
        </p:txBody>
      </p:sp>
      <p:sp>
        <p:nvSpPr>
          <p:cNvPr id="10" name="Rectangle 9"/>
          <p:cNvSpPr/>
          <p:nvPr/>
        </p:nvSpPr>
        <p:spPr>
          <a:xfrm>
            <a:off x="0" y="4572000"/>
            <a:ext cx="4572000" cy="571500"/>
          </a:xfrm>
          <a:prstGeom prst="rect">
            <a:avLst/>
          </a:prstGeom>
          <a:solidFill>
            <a:srgbClr val="F596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solidFill>
                <a:srgbClr val="FC8C10"/>
              </a:solidFill>
            </a:endParaRPr>
          </a:p>
        </p:txBody>
      </p:sp>
      <p:sp>
        <p:nvSpPr>
          <p:cNvPr id="11" name="Rectangle 10"/>
          <p:cNvSpPr/>
          <p:nvPr/>
        </p:nvSpPr>
        <p:spPr>
          <a:xfrm>
            <a:off x="4572000" y="4572000"/>
            <a:ext cx="4572000" cy="571500"/>
          </a:xfrm>
          <a:prstGeom prst="rect">
            <a:avLst/>
          </a:prstGeom>
          <a:solidFill>
            <a:srgbClr val="0089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solidFill>
                <a:prstClr val="white"/>
              </a:solidFill>
            </a:endParaRPr>
          </a:p>
        </p:txBody>
      </p:sp>
      <p:sp>
        <p:nvSpPr>
          <p:cNvPr id="2" name="Title 1"/>
          <p:cNvSpPr>
            <a:spLocks noGrp="1"/>
          </p:cNvSpPr>
          <p:nvPr>
            <p:ph type="ctrTitle"/>
          </p:nvPr>
        </p:nvSpPr>
        <p:spPr>
          <a:xfrm>
            <a:off x="304800" y="1597820"/>
            <a:ext cx="8534400" cy="1102519"/>
          </a:xfrm>
        </p:spPr>
        <p:txBody>
          <a:bodyPr>
            <a:normAutofit/>
          </a:bodyPr>
          <a:lstStyle>
            <a:lvl1pPr>
              <a:defRPr sz="2100">
                <a:latin typeface="+mj-lt"/>
              </a:defRPr>
            </a:lvl1pPr>
          </a:lstStyle>
          <a:p>
            <a:r>
              <a:rPr lang="en-GB"/>
              <a:t>Click to edit Master title style</a:t>
            </a:r>
            <a:endParaRPr lang="en-US"/>
          </a:p>
        </p:txBody>
      </p:sp>
      <p:sp>
        <p:nvSpPr>
          <p:cNvPr id="3" name="Subtitle 2"/>
          <p:cNvSpPr>
            <a:spLocks noGrp="1"/>
          </p:cNvSpPr>
          <p:nvPr>
            <p:ph type="subTitle" idx="1"/>
          </p:nvPr>
        </p:nvSpPr>
        <p:spPr>
          <a:xfrm>
            <a:off x="304800" y="2914650"/>
            <a:ext cx="8534400" cy="1314450"/>
          </a:xfrm>
        </p:spPr>
        <p:txBody>
          <a:bodyPr>
            <a:normAutofit/>
          </a:bodyPr>
          <a:lstStyle>
            <a:lvl1pPr marL="0" indent="0" algn="l">
              <a:buNone/>
              <a:defRPr sz="1500">
                <a:solidFill>
                  <a:schemeClr val="tx1">
                    <a:tint val="75000"/>
                  </a:schemeClr>
                </a:solidFill>
                <a:latin typeface="+mj-l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lvl1pPr>
              <a:defRPr>
                <a:latin typeface="+mj-lt"/>
              </a:defRPr>
            </a:lvl1pPr>
          </a:lstStyle>
          <a:p>
            <a:fld id="{31B8E310-0E17-44E8-849C-3C6647FDE200}" type="datetimeFigureOut">
              <a:rPr lang="en-US" smtClean="0">
                <a:solidFill>
                  <a:prstClr val="black">
                    <a:tint val="75000"/>
                  </a:prstClr>
                </a:solidFill>
              </a:rPr>
              <a:pPr/>
              <a:t>3/17/2026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atin typeface="+mj-lt"/>
              </a:defRPr>
            </a:lvl1p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solidFill>
                  <a:schemeClr val="tx1"/>
                </a:solidFill>
                <a:latin typeface="+mj-lt"/>
              </a:defRPr>
            </a:lvl1pPr>
          </a:lstStyle>
          <a:p>
            <a:fld id="{2BCB1F91-6231-469A-8154-DE2308BF02C9}" type="slidenum">
              <a:rPr lang="en-US" smtClean="0">
                <a:solidFill>
                  <a:prstClr val="black"/>
                </a:solidFill>
              </a:rPr>
              <a:pPr/>
              <a:t>‹#›</a:t>
            </a:fld>
            <a:endParaRPr lang="en-US">
              <a:solidFill>
                <a:prstClr val="black"/>
              </a:solidFill>
            </a:endParaRPr>
          </a:p>
        </p:txBody>
      </p:sp>
      <p:pic>
        <p:nvPicPr>
          <p:cNvPr id="7" name="Picture 2" descr="E:\naveen works\Rahul\Nttf\NTTF web design\Nttf-logo.png"/>
          <p:cNvPicPr>
            <a:picLocks noChangeAspect="1" noChangeArrowheads="1"/>
          </p:cNvPicPr>
          <p:nvPr/>
        </p:nvPicPr>
        <p:blipFill>
          <a:blip r:embed="rId3" cstate="print"/>
          <a:srcRect/>
          <a:stretch>
            <a:fillRect/>
          </a:stretch>
        </p:blipFill>
        <p:spPr bwMode="auto">
          <a:xfrm>
            <a:off x="5791200" y="114301"/>
            <a:ext cx="3124200" cy="955586"/>
          </a:xfrm>
          <a:prstGeom prst="rect">
            <a:avLst/>
          </a:prstGeom>
          <a:noFill/>
        </p:spPr>
      </p:pic>
    </p:spTree>
    <p:extLst>
      <p:ext uri="{BB962C8B-B14F-4D97-AF65-F5344CB8AC3E}">
        <p14:creationId xmlns:p14="http://schemas.microsoft.com/office/powerpoint/2010/main" val="4083624256"/>
      </p:ext>
    </p:extLst>
  </p:cSld>
  <p:clrMapOvr>
    <a:masterClrMapping/>
  </p:clrMapOvr>
  <p:transition spd="slow" advClick="0">
    <p:fade/>
  </p:transition>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57150"/>
            <a:ext cx="6172200" cy="857250"/>
          </a:xfrm>
        </p:spPr>
        <p:txBody>
          <a:bodyPr>
            <a:normAutofit/>
          </a:bodyPr>
          <a:lstStyle>
            <a:lvl1pPr algn="l">
              <a:defRPr sz="1800"/>
            </a:lvl1pPr>
          </a:lstStyle>
          <a:p>
            <a:r>
              <a:rPr lang="en-GB"/>
              <a:t>Click to edit Master title style</a:t>
            </a:r>
            <a:endParaRPr lang="en-US" dirty="0"/>
          </a:p>
        </p:txBody>
      </p:sp>
      <p:sp>
        <p:nvSpPr>
          <p:cNvPr id="3" name="Content Placeholder 2"/>
          <p:cNvSpPr>
            <a:spLocks noGrp="1"/>
          </p:cNvSpPr>
          <p:nvPr>
            <p:ph idx="1"/>
          </p:nvPr>
        </p:nvSpPr>
        <p:spPr>
          <a:xfrm>
            <a:off x="304800" y="1085851"/>
            <a:ext cx="8229600" cy="3394472"/>
          </a:xfrm>
        </p:spPr>
        <p:txBody>
          <a:bodyPr>
            <a:normAutofit/>
          </a:bodyPr>
          <a:lstStyle>
            <a:lvl1pPr>
              <a:buFontTx/>
              <a:buBlip>
                <a:blip r:embed="rId2"/>
              </a:buBlip>
              <a:defRPr sz="1500">
                <a:latin typeface="+mn-lt"/>
              </a:defRPr>
            </a:lvl1pPr>
            <a:lvl2pPr>
              <a:buFontTx/>
              <a:buBlip>
                <a:blip r:embed="rId2"/>
              </a:buBlip>
              <a:defRPr sz="1050">
                <a:latin typeface="+mn-lt"/>
              </a:defRPr>
            </a:lvl2pPr>
            <a:lvl3pPr>
              <a:buFontTx/>
              <a:buBlip>
                <a:blip r:embed="rId2"/>
              </a:buBlip>
              <a:defRPr sz="1050">
                <a:latin typeface="+mn-lt"/>
              </a:defRPr>
            </a:lvl3pPr>
            <a:lvl4pPr>
              <a:buFontTx/>
              <a:buBlip>
                <a:blip r:embed="rId2"/>
              </a:buBlip>
              <a:defRPr sz="1050">
                <a:latin typeface="+mn-lt"/>
              </a:defRPr>
            </a:lvl4pPr>
            <a:lvl5pPr>
              <a:buFontTx/>
              <a:buBlip>
                <a:blip r:embed="rId2"/>
              </a:buBlip>
              <a:defRPr sz="1050">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1B8E310-0E17-44E8-849C-3C6647FDE200}" type="datetimeFigureOut">
              <a:rPr lang="en-US" smtClean="0">
                <a:solidFill>
                  <a:prstClr val="black">
                    <a:tint val="75000"/>
                  </a:prstClr>
                </a:solidFill>
              </a:rPr>
              <a:pPr/>
              <a:t>3/17/2026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BCB1F91-6231-469A-8154-DE2308BF02C9}"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931105203"/>
      </p:ext>
    </p:extLst>
  </p:cSld>
  <p:clrMapOvr>
    <a:masterClrMapping/>
  </p:clrMapOvr>
  <p:transition spd="slow" advClick="0">
    <p:fade/>
  </p:transition>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normAutofit/>
          </a:bodyPr>
          <a:lstStyle>
            <a:lvl1pPr algn="l">
              <a:defRPr sz="2100" b="1" cap="all"/>
            </a:lvl1pPr>
          </a:lstStyle>
          <a:p>
            <a:r>
              <a:rPr lang="en-GB"/>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31B8E310-0E17-44E8-849C-3C6647FDE200}" type="datetimeFigureOut">
              <a:rPr lang="en-US" smtClean="0">
                <a:solidFill>
                  <a:prstClr val="black">
                    <a:tint val="75000"/>
                  </a:prstClr>
                </a:solidFill>
              </a:rPr>
              <a:pPr/>
              <a:t>3/17/2026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BCB1F91-6231-469A-8154-DE2308BF02C9}"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3978244327"/>
      </p:ext>
    </p:extLst>
  </p:cSld>
  <p:clrMapOvr>
    <a:masterClrMapping/>
  </p:clrMapOvr>
  <p:transition spd="slow" advClick="0">
    <p:fade/>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114300"/>
            <a:ext cx="5943600" cy="857250"/>
          </a:xfrm>
        </p:spPr>
        <p:txBody>
          <a:bodyPr>
            <a:normAutofit/>
          </a:bodyPr>
          <a:lstStyle>
            <a:lvl1pPr algn="l">
              <a:defRPr sz="1500"/>
            </a:lvl1pPr>
          </a:lstStyle>
          <a:p>
            <a:r>
              <a:rPr lang="en-GB"/>
              <a:t>Click to edit Master title style</a:t>
            </a:r>
            <a:endParaRPr lang="en-US" dirty="0"/>
          </a:p>
        </p:txBody>
      </p:sp>
      <p:sp>
        <p:nvSpPr>
          <p:cNvPr id="3" name="Content Placeholder 2"/>
          <p:cNvSpPr>
            <a:spLocks noGrp="1"/>
          </p:cNvSpPr>
          <p:nvPr>
            <p:ph sz="half" idx="1"/>
          </p:nvPr>
        </p:nvSpPr>
        <p:spPr>
          <a:xfrm>
            <a:off x="304800" y="1028701"/>
            <a:ext cx="4038600" cy="3394472"/>
          </a:xfrm>
        </p:spPr>
        <p:txBody>
          <a:bodyPr>
            <a:normAutofit/>
          </a:bodyPr>
          <a:lstStyle>
            <a:lvl1pPr>
              <a:buFontTx/>
              <a:buBlip>
                <a:blip r:embed="rId2"/>
              </a:buBlip>
              <a:defRPr sz="1350"/>
            </a:lvl1pPr>
            <a:lvl2pPr>
              <a:buFontTx/>
              <a:buBlip>
                <a:blip r:embed="rId2"/>
              </a:buBlip>
              <a:defRPr sz="1050"/>
            </a:lvl2pPr>
            <a:lvl3pPr>
              <a:buFontTx/>
              <a:buBlip>
                <a:blip r:embed="rId2"/>
              </a:buBlip>
              <a:defRPr sz="1050"/>
            </a:lvl3pPr>
            <a:lvl4pPr>
              <a:buFontTx/>
              <a:buBlip>
                <a:blip r:embed="rId2"/>
              </a:buBlip>
              <a:defRPr sz="1050"/>
            </a:lvl4pPr>
            <a:lvl5pPr>
              <a:buFontTx/>
              <a:buBlip>
                <a:blip r:embed="rId2"/>
              </a:buBlip>
              <a:defRPr sz="1050"/>
            </a:lvl5pPr>
            <a:lvl6pPr>
              <a:defRPr sz="1350"/>
            </a:lvl6pPr>
            <a:lvl7pPr>
              <a:defRPr sz="1350"/>
            </a:lvl7pPr>
            <a:lvl8pPr>
              <a:defRPr sz="1350"/>
            </a:lvl8pPr>
            <a:lvl9pPr>
              <a:defRPr sz="135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724400" y="1028701"/>
            <a:ext cx="4038600" cy="3394472"/>
          </a:xfrm>
        </p:spPr>
        <p:txBody>
          <a:bodyPr/>
          <a:lstStyle>
            <a:lvl1pPr>
              <a:buFontTx/>
              <a:buBlip>
                <a:blip r:embed="rId2"/>
              </a:buBlip>
              <a:defRPr sz="1350"/>
            </a:lvl1pPr>
            <a:lvl2pPr>
              <a:buFontTx/>
              <a:buBlip>
                <a:blip r:embed="rId2"/>
              </a:buBlip>
              <a:defRPr sz="1050"/>
            </a:lvl2pPr>
            <a:lvl3pPr>
              <a:buFontTx/>
              <a:buBlip>
                <a:blip r:embed="rId2"/>
              </a:buBlip>
              <a:defRPr sz="1050"/>
            </a:lvl3pPr>
            <a:lvl4pPr>
              <a:buFontTx/>
              <a:buBlip>
                <a:blip r:embed="rId2"/>
              </a:buBlip>
              <a:defRPr sz="1050"/>
            </a:lvl4pPr>
            <a:lvl5pPr>
              <a:buFontTx/>
              <a:buBlip>
                <a:blip r:embed="rId2"/>
              </a:buBlip>
              <a:defRPr sz="1050"/>
            </a:lvl5pPr>
            <a:lvl6pPr>
              <a:defRPr sz="1350"/>
            </a:lvl6pPr>
            <a:lvl7pPr>
              <a:defRPr sz="1350"/>
            </a:lvl7pPr>
            <a:lvl8pPr>
              <a:defRPr sz="1350"/>
            </a:lvl8pPr>
            <a:lvl9pPr>
              <a:defRPr sz="135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31B8E310-0E17-44E8-849C-3C6647FDE200}" type="datetimeFigureOut">
              <a:rPr lang="en-US" smtClean="0">
                <a:solidFill>
                  <a:prstClr val="black">
                    <a:tint val="75000"/>
                  </a:prstClr>
                </a:solidFill>
              </a:rPr>
              <a:pPr/>
              <a:t>3/17/2026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2BCB1F91-6231-469A-8154-DE2308BF02C9}"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561418370"/>
      </p:ext>
    </p:extLst>
  </p:cSld>
  <p:clrMapOvr>
    <a:masterClrMapping/>
  </p:clrMapOvr>
  <p:transition spd="slow" advClick="0">
    <p:fade/>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228600" y="1028700"/>
            <a:ext cx="4040188" cy="479822"/>
          </a:xfrm>
        </p:spPr>
        <p:txBody>
          <a:bodyPr anchor="b">
            <a:normAutofit/>
          </a:bodyPr>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p:cNvSpPr>
            <a:spLocks noGrp="1"/>
          </p:cNvSpPr>
          <p:nvPr>
            <p:ph sz="half" idx="2"/>
          </p:nvPr>
        </p:nvSpPr>
        <p:spPr>
          <a:xfrm>
            <a:off x="228600" y="1533525"/>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6" y="1028700"/>
            <a:ext cx="4041775" cy="479822"/>
          </a:xfrm>
        </p:spPr>
        <p:txBody>
          <a:bodyPr anchor="b">
            <a:normAutofit/>
          </a:bodyPr>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p:cNvSpPr>
            <a:spLocks noGrp="1"/>
          </p:cNvSpPr>
          <p:nvPr>
            <p:ph sz="quarter" idx="4"/>
          </p:nvPr>
        </p:nvSpPr>
        <p:spPr>
          <a:xfrm>
            <a:off x="4645026" y="1533525"/>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31B8E310-0E17-44E8-849C-3C6647FDE200}" type="datetimeFigureOut">
              <a:rPr lang="en-US" smtClean="0">
                <a:solidFill>
                  <a:prstClr val="black">
                    <a:tint val="75000"/>
                  </a:prstClr>
                </a:solidFill>
              </a:rPr>
              <a:pPr/>
              <a:t>3/17/2026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2BCB1F91-6231-469A-8154-DE2308BF02C9}"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2687372816"/>
      </p:ext>
    </p:extLst>
  </p:cSld>
  <p:clrMapOvr>
    <a:masterClrMapping/>
  </p:clrMapOvr>
  <p:transition spd="slow" advClick="0">
    <p:fade/>
  </p:transition>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31B8E310-0E17-44E8-849C-3C6647FDE200}" type="datetimeFigureOut">
              <a:rPr lang="en-US" smtClean="0">
                <a:solidFill>
                  <a:prstClr val="black">
                    <a:tint val="75000"/>
                  </a:prstClr>
                </a:solidFill>
              </a:rPr>
              <a:pPr/>
              <a:t>3/17/2026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2BCB1F91-6231-469A-8154-DE2308BF02C9}"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1362537994"/>
      </p:ext>
    </p:extLst>
  </p:cSld>
  <p:clrMapOvr>
    <a:masterClrMapping/>
  </p:clrMapOvr>
  <p:transition spd="slow" advClick="0">
    <p:fade/>
  </p:transition>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B8E310-0E17-44E8-849C-3C6647FDE200}" type="datetimeFigureOut">
              <a:rPr lang="en-US" smtClean="0">
                <a:solidFill>
                  <a:prstClr val="black">
                    <a:tint val="75000"/>
                  </a:prstClr>
                </a:solidFill>
              </a:rPr>
              <a:pPr/>
              <a:t>3/17/2026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2BCB1F91-6231-469A-8154-DE2308BF02C9}"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705582634"/>
      </p:ext>
    </p:extLst>
  </p:cSld>
  <p:clrMapOvr>
    <a:masterClrMapping/>
  </p:clrMapOvr>
  <p:transition spd="slow" advClick="0">
    <p:fade/>
  </p:transition>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7150"/>
            <a:ext cx="6096000" cy="871538"/>
          </a:xfrm>
        </p:spPr>
        <p:txBody>
          <a:bodyPr anchor="ctr"/>
          <a:lstStyle>
            <a:lvl1pPr algn="l">
              <a:defRPr sz="1500" b="1"/>
            </a:lvl1pPr>
          </a:lstStyle>
          <a:p>
            <a:r>
              <a:rPr lang="en-GB"/>
              <a:t>Click to edit Master title style</a:t>
            </a:r>
            <a:endParaRPr lang="en-US"/>
          </a:p>
        </p:txBody>
      </p:sp>
      <p:sp>
        <p:nvSpPr>
          <p:cNvPr id="3" name="Content Placeholder 2"/>
          <p:cNvSpPr>
            <a:spLocks noGrp="1"/>
          </p:cNvSpPr>
          <p:nvPr>
            <p:ph idx="1"/>
          </p:nvPr>
        </p:nvSpPr>
        <p:spPr>
          <a:xfrm>
            <a:off x="3575050" y="1028701"/>
            <a:ext cx="5111750" cy="3508772"/>
          </a:xfrm>
        </p:spPr>
        <p:txBody>
          <a:bodyPr>
            <a:normAutofit/>
          </a:bodyPr>
          <a:lstStyle>
            <a:lvl1pPr>
              <a:defRPr sz="1500"/>
            </a:lvl1pPr>
            <a:lvl2pPr>
              <a:defRPr sz="1050"/>
            </a:lvl2pPr>
            <a:lvl3pPr>
              <a:defRPr sz="1050"/>
            </a:lvl3pPr>
            <a:lvl4pPr>
              <a:defRPr sz="1050"/>
            </a:lvl4pPr>
            <a:lvl5pPr>
              <a:defRPr sz="105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457201" y="1028700"/>
            <a:ext cx="3008313" cy="3518297"/>
          </a:xfrm>
        </p:spPr>
        <p:txBody>
          <a:bodyPr>
            <a:normAutofit/>
          </a:bodyPr>
          <a:lstStyle>
            <a:lvl1pPr marL="0" indent="0">
              <a:buNone/>
              <a:defRPr sz="15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5" name="Date Placeholder 4"/>
          <p:cNvSpPr>
            <a:spLocks noGrp="1"/>
          </p:cNvSpPr>
          <p:nvPr>
            <p:ph type="dt" sz="half" idx="10"/>
          </p:nvPr>
        </p:nvSpPr>
        <p:spPr/>
        <p:txBody>
          <a:bodyPr/>
          <a:lstStyle/>
          <a:p>
            <a:fld id="{31B8E310-0E17-44E8-849C-3C6647FDE200}" type="datetimeFigureOut">
              <a:rPr lang="en-US" smtClean="0">
                <a:solidFill>
                  <a:prstClr val="black">
                    <a:tint val="75000"/>
                  </a:prstClr>
                </a:solidFill>
              </a:rPr>
              <a:pPr/>
              <a:t>3/17/2026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2BCB1F91-6231-469A-8154-DE2308BF02C9}"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962040901"/>
      </p:ext>
    </p:extLst>
  </p:cSld>
  <p:clrMapOvr>
    <a:masterClrMapping/>
  </p:clrMapOvr>
  <p:transition spd="slow" advClick="0">
    <p:fade/>
  </p:transition>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575446"/>
            <a:ext cx="5486400" cy="425054"/>
          </a:xfrm>
        </p:spPr>
        <p:txBody>
          <a:bodyPr anchor="b"/>
          <a:lstStyle>
            <a:lvl1pPr algn="l">
              <a:defRPr sz="1500" b="1"/>
            </a:lvl1pPr>
          </a:lstStyle>
          <a:p>
            <a:r>
              <a:rPr lang="en-GB"/>
              <a:t>Click to edit Master title style</a:t>
            </a:r>
            <a:endParaRPr lang="en-US"/>
          </a:p>
        </p:txBody>
      </p:sp>
      <p:sp>
        <p:nvSpPr>
          <p:cNvPr id="3" name="Picture Placeholder 2"/>
          <p:cNvSpPr>
            <a:spLocks noGrp="1"/>
          </p:cNvSpPr>
          <p:nvPr>
            <p:ph type="pic" idx="1"/>
          </p:nvPr>
        </p:nvSpPr>
        <p:spPr>
          <a:xfrm>
            <a:off x="1792288" y="1028701"/>
            <a:ext cx="5486400" cy="2516981"/>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a:p>
        </p:txBody>
      </p:sp>
      <p:sp>
        <p:nvSpPr>
          <p:cNvPr id="4" name="Text Placeholder 3"/>
          <p:cNvSpPr>
            <a:spLocks noGrp="1"/>
          </p:cNvSpPr>
          <p:nvPr>
            <p:ph type="body" sz="half" idx="2"/>
          </p:nvPr>
        </p:nvSpPr>
        <p:spPr>
          <a:xfrm>
            <a:off x="1792288" y="4025503"/>
            <a:ext cx="5486400" cy="4893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5" name="Date Placeholder 4"/>
          <p:cNvSpPr>
            <a:spLocks noGrp="1"/>
          </p:cNvSpPr>
          <p:nvPr>
            <p:ph type="dt" sz="half" idx="10"/>
          </p:nvPr>
        </p:nvSpPr>
        <p:spPr/>
        <p:txBody>
          <a:bodyPr/>
          <a:lstStyle/>
          <a:p>
            <a:fld id="{31B8E310-0E17-44E8-849C-3C6647FDE200}" type="datetimeFigureOut">
              <a:rPr lang="en-US" smtClean="0">
                <a:solidFill>
                  <a:prstClr val="black">
                    <a:tint val="75000"/>
                  </a:prstClr>
                </a:solidFill>
              </a:rPr>
              <a:pPr/>
              <a:t>3/17/2026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2BCB1F91-6231-469A-8154-DE2308BF02C9}"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717172180"/>
      </p:ext>
    </p:extLst>
  </p:cSld>
  <p:clrMapOvr>
    <a:masterClrMapping/>
  </p:clrMapOvr>
  <p:transition spd="slow" advClick="0">
    <p:fade/>
  </p:transition>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228600" y="1028701"/>
            <a:ext cx="8229600" cy="3394472"/>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31B8E310-0E17-44E8-849C-3C6647FDE200}" type="datetimeFigureOut">
              <a:rPr lang="en-US" smtClean="0">
                <a:solidFill>
                  <a:prstClr val="black">
                    <a:tint val="75000"/>
                  </a:prstClr>
                </a:solidFill>
              </a:rPr>
              <a:pPr/>
              <a:t>3/17/2026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BCB1F91-6231-469A-8154-DE2308BF02C9}"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2787688533"/>
      </p:ext>
    </p:extLst>
  </p:cSld>
  <p:clrMapOvr>
    <a:masterClrMapping/>
  </p:clrMapOvr>
  <p:transition spd="slow" advClick="0">
    <p:fade/>
  </p:transition>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28701"/>
            <a:ext cx="2057400" cy="3508772"/>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1028701"/>
            <a:ext cx="6019800" cy="3508772"/>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31B8E310-0E17-44E8-849C-3C6647FDE200}" type="datetimeFigureOut">
              <a:rPr lang="en-US" smtClean="0">
                <a:solidFill>
                  <a:prstClr val="black">
                    <a:tint val="75000"/>
                  </a:prstClr>
                </a:solidFill>
              </a:rPr>
              <a:pPr/>
              <a:t>3/17/2026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BCB1F91-6231-469A-8154-DE2308BF02C9}"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2838723540"/>
      </p:ext>
    </p:extLst>
  </p:cSld>
  <p:clrMapOvr>
    <a:masterClrMapping/>
  </p:clrMapOvr>
  <p:transition spd="slow" advClick="0">
    <p:fade/>
  </p:transition>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dgm">
  <p:cSld name="Title and Diagram or Organisation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r>
              <a:rPr lang="en-GB"/>
              <a:t>Click to edit Master title style</a:t>
            </a:r>
            <a:endParaRPr lang="en-US"/>
          </a:p>
        </p:txBody>
      </p:sp>
      <p:sp>
        <p:nvSpPr>
          <p:cNvPr id="3" name="SmartArt Placeholder 2"/>
          <p:cNvSpPr>
            <a:spLocks noGrp="1"/>
          </p:cNvSpPr>
          <p:nvPr>
            <p:ph type="dgm" idx="1"/>
          </p:nvPr>
        </p:nvSpPr>
        <p:spPr>
          <a:xfrm>
            <a:off x="457200" y="1200151"/>
            <a:ext cx="8229600" cy="3394472"/>
          </a:xfrm>
        </p:spPr>
        <p:txBody>
          <a:bodyPr/>
          <a:lstStyle/>
          <a:p>
            <a:r>
              <a:rPr lang="en-GB"/>
              <a:t>Click icon to add SmartArt graphic</a:t>
            </a:r>
            <a:endParaRPr lang="en-US"/>
          </a:p>
        </p:txBody>
      </p:sp>
      <p:sp>
        <p:nvSpPr>
          <p:cNvPr id="4" name="Date Placeholder 3"/>
          <p:cNvSpPr>
            <a:spLocks noGrp="1"/>
          </p:cNvSpPr>
          <p:nvPr>
            <p:ph type="dt" sz="half" idx="10"/>
          </p:nvPr>
        </p:nvSpPr>
        <p:spPr>
          <a:xfrm>
            <a:off x="457200" y="4685110"/>
            <a:ext cx="2133600" cy="357188"/>
          </a:xfrm>
        </p:spPr>
        <p:txBody>
          <a:bodyPr/>
          <a:lstStyle>
            <a:lvl1pPr>
              <a:defRPr smtClean="0"/>
            </a:lvl1pPr>
          </a:lstStyle>
          <a:p>
            <a:fld id="{31B8E310-0E17-44E8-849C-3C6647FDE200}" type="datetimeFigureOut">
              <a:rPr lang="en-US">
                <a:solidFill>
                  <a:prstClr val="black">
                    <a:tint val="75000"/>
                  </a:prstClr>
                </a:solidFill>
              </a:rPr>
              <a:pPr/>
              <a:t>3/17/2026</a:t>
            </a:fld>
            <a:endParaRPr lang="en-US">
              <a:solidFill>
                <a:prstClr val="black">
                  <a:tint val="75000"/>
                </a:prstClr>
              </a:solidFill>
            </a:endParaRPr>
          </a:p>
        </p:txBody>
      </p:sp>
      <p:sp>
        <p:nvSpPr>
          <p:cNvPr id="5" name="Footer Placeholder 4"/>
          <p:cNvSpPr>
            <a:spLocks noGrp="1"/>
          </p:cNvSpPr>
          <p:nvPr>
            <p:ph type="ftr" sz="quarter" idx="11"/>
          </p:nvPr>
        </p:nvSpPr>
        <p:spPr>
          <a:xfrm>
            <a:off x="3124200" y="4685110"/>
            <a:ext cx="2895600" cy="357188"/>
          </a:xfrm>
        </p:spPr>
        <p:txBody>
          <a:bodyPr/>
          <a:lstStyle>
            <a:lvl1pPr>
              <a:defRPr/>
            </a:lvl1p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6553200" y="4685110"/>
            <a:ext cx="2133600" cy="357188"/>
          </a:xfrm>
        </p:spPr>
        <p:txBody>
          <a:bodyPr/>
          <a:lstStyle>
            <a:lvl1pPr>
              <a:defRPr smtClean="0"/>
            </a:lvl1pPr>
          </a:lstStyle>
          <a:p>
            <a:fld id="{2BCB1F91-6231-469A-8154-DE2308BF02C9}" type="slidenum">
              <a:rPr lang="en-US">
                <a:solidFill>
                  <a:prstClr val="black"/>
                </a:solidFill>
              </a:rPr>
              <a:pPr/>
              <a:t>‹#›</a:t>
            </a:fld>
            <a:endParaRPr lang="en-US">
              <a:solidFill>
                <a:prstClr val="black"/>
              </a:solidFill>
            </a:endParaRPr>
          </a:p>
        </p:txBody>
      </p:sp>
    </p:spTree>
    <p:extLst>
      <p:ext uri="{BB962C8B-B14F-4D97-AF65-F5344CB8AC3E}">
        <p14:creationId xmlns:p14="http://schemas.microsoft.com/office/powerpoint/2010/main" val="3421405219"/>
      </p:ext>
    </p:extLst>
  </p:cSld>
  <p:clrMapOvr>
    <a:masterClrMapping/>
  </p:clrMapOvr>
  <p:transition spd="slow" advClick="0">
    <p:fade/>
  </p:transition>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342900"/>
            <a:ext cx="8229600" cy="1028700"/>
          </a:xfrm>
        </p:spPr>
        <p:txBody>
          <a:bodyPr/>
          <a:lstStyle/>
          <a:p>
            <a:r>
              <a:rPr lang="en-GB"/>
              <a:t>Click to edit Master title style</a:t>
            </a:r>
            <a:endParaRPr lang="en-US"/>
          </a:p>
        </p:txBody>
      </p:sp>
      <p:sp>
        <p:nvSpPr>
          <p:cNvPr id="3" name="Table Placeholder 2"/>
          <p:cNvSpPr>
            <a:spLocks noGrp="1"/>
          </p:cNvSpPr>
          <p:nvPr>
            <p:ph type="tbl" idx="1"/>
          </p:nvPr>
        </p:nvSpPr>
        <p:spPr>
          <a:xfrm>
            <a:off x="457200" y="1485900"/>
            <a:ext cx="8229600" cy="2914650"/>
          </a:xfrm>
        </p:spPr>
        <p:txBody>
          <a:bodyPr>
            <a:normAutofit/>
          </a:bodyPr>
          <a:lstStyle/>
          <a:p>
            <a:pPr lvl="0"/>
            <a:r>
              <a:rPr lang="en-GB" noProof="0"/>
              <a:t>Click icon to add table</a:t>
            </a:r>
            <a:endParaRPr lang="en-US" noProof="0"/>
          </a:p>
        </p:txBody>
      </p:sp>
      <p:sp>
        <p:nvSpPr>
          <p:cNvPr id="4" name="Date Placeholder 13"/>
          <p:cNvSpPr>
            <a:spLocks noGrp="1"/>
          </p:cNvSpPr>
          <p:nvPr>
            <p:ph type="dt" sz="half" idx="10"/>
          </p:nvPr>
        </p:nvSpPr>
        <p:spPr/>
        <p:txBody>
          <a:bodyPr/>
          <a:lstStyle>
            <a:lvl1pPr>
              <a:defRPr/>
            </a:lvl1pPr>
          </a:lstStyle>
          <a:p>
            <a:fld id="{31B8E310-0E17-44E8-849C-3C6647FDE200}" type="datetimeFigureOut">
              <a:rPr lang="en-US" smtClean="0">
                <a:solidFill>
                  <a:prstClr val="black">
                    <a:tint val="75000"/>
                  </a:prstClr>
                </a:solidFill>
              </a:rPr>
              <a:pPr/>
              <a:t>3/17/2026</a:t>
            </a:fld>
            <a:endParaRPr lang="en-US">
              <a:solidFill>
                <a:prstClr val="black">
                  <a:tint val="75000"/>
                </a:prstClr>
              </a:solidFill>
            </a:endParaRPr>
          </a:p>
        </p:txBody>
      </p:sp>
      <p:sp>
        <p:nvSpPr>
          <p:cNvPr id="5" name="Footer Placeholder 2"/>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6" name="Slide Number Placeholder 22"/>
          <p:cNvSpPr>
            <a:spLocks noGrp="1"/>
          </p:cNvSpPr>
          <p:nvPr>
            <p:ph type="sldNum" sz="quarter" idx="12"/>
          </p:nvPr>
        </p:nvSpPr>
        <p:spPr/>
        <p:txBody>
          <a:bodyPr/>
          <a:lstStyle>
            <a:lvl1pPr>
              <a:defRPr/>
            </a:lvl1pPr>
          </a:lstStyle>
          <a:p>
            <a:fld id="{2BCB1F91-6231-469A-8154-DE2308BF02C9}"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281776303"/>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Presentation Title Slide">
    <p:spTree>
      <p:nvGrpSpPr>
        <p:cNvPr id="1" name=""/>
        <p:cNvGrpSpPr/>
        <p:nvPr/>
      </p:nvGrpSpPr>
      <p:grpSpPr>
        <a:xfrm>
          <a:off x="0" y="0"/>
          <a:ext cx="0" cy="0"/>
          <a:chOff x="0" y="0"/>
          <a:chExt cx="0" cy="0"/>
        </a:xfrm>
      </p:grpSpPr>
      <p:sp>
        <p:nvSpPr>
          <p:cNvPr id="6" name="Title 8"/>
          <p:cNvSpPr>
            <a:spLocks noGrp="1"/>
          </p:cNvSpPr>
          <p:nvPr>
            <p:ph type="ctrTitle"/>
          </p:nvPr>
        </p:nvSpPr>
        <p:spPr>
          <a:xfrm>
            <a:off x="457200" y="1143000"/>
            <a:ext cx="8229600" cy="1143000"/>
          </a:xfrm>
          <a:prstGeom prst="rect">
            <a:avLst/>
          </a:prstGeom>
        </p:spPr>
        <p:txBody>
          <a:bodyPr tIns="0"/>
          <a:lstStyle>
            <a:lvl1pPr algn="r">
              <a:lnSpc>
                <a:spcPts val="4050"/>
              </a:lnSpc>
              <a:defRPr sz="4050" cap="none" baseline="0">
                <a:solidFill>
                  <a:srgbClr val="D4FF5B"/>
                </a:solidFill>
                <a:effectLst>
                  <a:outerShdw blurRad="30000" dist="30000" dir="2700000" algn="tl" rotWithShape="0">
                    <a:schemeClr val="bg2">
                      <a:shade val="45000"/>
                      <a:satMod val="150000"/>
                      <a:alpha val="90000"/>
                    </a:schemeClr>
                  </a:outerShdw>
                  <a:reflection blurRad="12000" stA="20000" endPos="50000" dist="12700" dir="5400000" sy="-100000" algn="bl" rotWithShape="0"/>
                </a:effectLst>
              </a:defRPr>
            </a:lvl1pPr>
          </a:lstStyle>
          <a:p>
            <a:r>
              <a:rPr lang="en-GB"/>
              <a:t>Click to edit Master title style</a:t>
            </a:r>
            <a:endParaRPr lang="en-US" dirty="0"/>
          </a:p>
        </p:txBody>
      </p:sp>
      <p:sp>
        <p:nvSpPr>
          <p:cNvPr id="7" name="Subtitle 16"/>
          <p:cNvSpPr>
            <a:spLocks noGrp="1"/>
          </p:cNvSpPr>
          <p:nvPr>
            <p:ph type="subTitle" idx="1"/>
          </p:nvPr>
        </p:nvSpPr>
        <p:spPr>
          <a:xfrm>
            <a:off x="457200" y="2430660"/>
            <a:ext cx="8229600" cy="426840"/>
          </a:xfrm>
          <a:prstGeom prst="rect">
            <a:avLst/>
          </a:prstGeom>
        </p:spPr>
        <p:txBody>
          <a:bodyPr lIns="90000" tIns="0" rIns="90000" bIns="0" anchor="ctr"/>
          <a:lstStyle>
            <a:lvl1pPr marL="0" indent="0" algn="r">
              <a:buNone/>
              <a:defRPr sz="2100">
                <a:solidFill>
                  <a:srgbClr val="FAF8C8"/>
                </a:solidFill>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lang="en-GB"/>
              <a:t>Click to edit Master subtitle style</a:t>
            </a:r>
            <a:endParaRPr lang="en-US" dirty="0"/>
          </a:p>
        </p:txBody>
      </p:sp>
      <p:sp>
        <p:nvSpPr>
          <p:cNvPr id="14" name="Text Placeholder 13"/>
          <p:cNvSpPr>
            <a:spLocks noGrp="1"/>
          </p:cNvSpPr>
          <p:nvPr>
            <p:ph type="body" sz="quarter" idx="10"/>
          </p:nvPr>
        </p:nvSpPr>
        <p:spPr>
          <a:xfrm>
            <a:off x="457200" y="3918035"/>
            <a:ext cx="3352800" cy="738664"/>
          </a:xfrm>
          <a:prstGeom prst="rect">
            <a:avLst/>
          </a:prstGeom>
          <a:noFill/>
        </p:spPr>
        <p:txBody>
          <a:bodyPr rtlCol="0">
            <a:spAutoFit/>
          </a:bodyPr>
          <a:lstStyle>
            <a:lvl1pPr algn="l" rtl="0" fontAlgn="base">
              <a:spcBef>
                <a:spcPct val="0"/>
              </a:spcBef>
              <a:spcAft>
                <a:spcPct val="0"/>
              </a:spcAft>
              <a:buNone/>
              <a:defRPr lang="en-US" sz="2100" b="1" kern="1200" dirty="0" smtClean="0">
                <a:solidFill>
                  <a:srgbClr val="DEFF9B"/>
                </a:solidFill>
                <a:effectLst>
                  <a:outerShdw blurRad="38100" dist="38100" dir="2700000" algn="tl">
                    <a:srgbClr val="000000">
                      <a:alpha val="43137"/>
                    </a:srgbClr>
                  </a:outerShdw>
                </a:effectLst>
                <a:latin typeface="Corbel" pitchFamily="34" charset="0"/>
                <a:ea typeface="+mn-ea"/>
                <a:cs typeface="+mn-cs"/>
              </a:defRPr>
            </a:lvl1pPr>
          </a:lstStyle>
          <a:p>
            <a:pPr lvl="0"/>
            <a:r>
              <a:rPr lang="en-GB"/>
              <a:t>Click to edit Master text styles</a:t>
            </a:r>
          </a:p>
        </p:txBody>
      </p:sp>
      <p:sp>
        <p:nvSpPr>
          <p:cNvPr id="15" name="Text Placeholder 13"/>
          <p:cNvSpPr>
            <a:spLocks noGrp="1"/>
          </p:cNvSpPr>
          <p:nvPr>
            <p:ph type="body" sz="quarter" idx="11"/>
          </p:nvPr>
        </p:nvSpPr>
        <p:spPr>
          <a:xfrm>
            <a:off x="457201" y="4318085"/>
            <a:ext cx="2433680" cy="300082"/>
          </a:xfrm>
          <a:prstGeom prst="rect">
            <a:avLst/>
          </a:prstGeom>
          <a:noFill/>
        </p:spPr>
        <p:txBody>
          <a:bodyPr wrap="none" rtlCol="0">
            <a:spAutoFit/>
          </a:bodyPr>
          <a:lstStyle>
            <a:lvl1pPr algn="l" rtl="0" fontAlgn="base">
              <a:spcBef>
                <a:spcPct val="0"/>
              </a:spcBef>
              <a:spcAft>
                <a:spcPct val="0"/>
              </a:spcAft>
              <a:buNone/>
              <a:defRPr lang="en-US" sz="1350" b="1" kern="1200" dirty="0" smtClean="0">
                <a:solidFill>
                  <a:srgbClr val="0EFE58"/>
                </a:solidFill>
                <a:effectLst>
                  <a:outerShdw blurRad="38100" dist="38100" dir="2700000" algn="tl">
                    <a:srgbClr val="000000">
                      <a:alpha val="43137"/>
                    </a:srgbClr>
                  </a:outerShdw>
                </a:effectLst>
                <a:latin typeface="Corbel" pitchFamily="34" charset="0"/>
                <a:ea typeface="+mn-ea"/>
                <a:cs typeface="+mn-cs"/>
              </a:defRPr>
            </a:lvl1pPr>
          </a:lstStyle>
          <a:p>
            <a:pPr lvl="0"/>
            <a:r>
              <a:rPr lang="en-GB"/>
              <a:t>Click to edit Master text styles</a:t>
            </a:r>
          </a:p>
        </p:txBody>
      </p:sp>
      <p:sp>
        <p:nvSpPr>
          <p:cNvPr id="16" name="Text Placeholder 13"/>
          <p:cNvSpPr>
            <a:spLocks noGrp="1"/>
          </p:cNvSpPr>
          <p:nvPr>
            <p:ph type="body" sz="quarter" idx="12"/>
          </p:nvPr>
        </p:nvSpPr>
        <p:spPr>
          <a:xfrm>
            <a:off x="457201" y="4546685"/>
            <a:ext cx="1707903" cy="461665"/>
          </a:xfrm>
          <a:prstGeom prst="rect">
            <a:avLst/>
          </a:prstGeom>
          <a:noFill/>
        </p:spPr>
        <p:txBody>
          <a:bodyPr rtlCol="0">
            <a:spAutoFit/>
          </a:bodyPr>
          <a:lstStyle>
            <a:lvl1pPr algn="l" rtl="0" fontAlgn="base">
              <a:spcBef>
                <a:spcPct val="0"/>
              </a:spcBef>
              <a:spcAft>
                <a:spcPct val="0"/>
              </a:spcAft>
              <a:buNone/>
              <a:defRPr lang="en-US" sz="1200" b="1" kern="1200" dirty="0" smtClean="0">
                <a:solidFill>
                  <a:srgbClr val="0EFE58"/>
                </a:solidFill>
                <a:effectLst>
                  <a:outerShdw blurRad="38100" dist="38100" dir="2700000" algn="tl">
                    <a:srgbClr val="000000">
                      <a:alpha val="43137"/>
                    </a:srgbClr>
                  </a:outerShdw>
                </a:effectLst>
                <a:latin typeface="Corbel" pitchFamily="34" charset="0"/>
                <a:ea typeface="+mn-ea"/>
                <a:cs typeface="+mn-cs"/>
              </a:defRPr>
            </a:lvl1pPr>
          </a:lstStyle>
          <a:p>
            <a:pPr lvl="0"/>
            <a:r>
              <a:rPr lang="en-GB">
                <a:hlinkClick r:id="rId2"/>
              </a:rPr>
              <a:t>Click to edit Master text styles</a:t>
            </a:r>
          </a:p>
        </p:txBody>
      </p:sp>
    </p:spTree>
    <p:extLst>
      <p:ext uri="{BB962C8B-B14F-4D97-AF65-F5344CB8AC3E}">
        <p14:creationId xmlns:p14="http://schemas.microsoft.com/office/powerpoint/2010/main" val="115983933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r>
              <a:rPr lang="en-GB"/>
              <a:t>Click to edit Master title style</a:t>
            </a:r>
            <a:endParaRPr lang="en-US"/>
          </a:p>
        </p:txBody>
      </p:sp>
      <p:sp>
        <p:nvSpPr>
          <p:cNvPr id="3" name="Text Placeholder 2"/>
          <p:cNvSpPr>
            <a:spLocks noGrp="1"/>
          </p:cNvSpPr>
          <p:nvPr>
            <p:ph type="body" sz="half" idx="1"/>
          </p:nvPr>
        </p:nvSpPr>
        <p:spPr>
          <a:xfrm>
            <a:off x="457200" y="1200150"/>
            <a:ext cx="4038600" cy="33718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200150"/>
            <a:ext cx="4038600" cy="33718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a:xfrm>
            <a:off x="457200" y="4686300"/>
            <a:ext cx="2133600" cy="342900"/>
          </a:xfrm>
        </p:spPr>
        <p:txBody>
          <a:bodyPr/>
          <a:lstStyle>
            <a:lvl1pPr>
              <a:defRPr/>
            </a:lvl1pPr>
          </a:lstStyle>
          <a:p>
            <a:fld id="{31B8E310-0E17-44E8-849C-3C6647FDE200}" type="datetimeFigureOut">
              <a:rPr lang="en-US" smtClean="0">
                <a:solidFill>
                  <a:prstClr val="black">
                    <a:tint val="75000"/>
                  </a:prstClr>
                </a:solidFill>
              </a:rPr>
              <a:pPr/>
              <a:t>3/17/2026</a:t>
            </a:fld>
            <a:endParaRPr lang="en-US">
              <a:solidFill>
                <a:prstClr val="black">
                  <a:tint val="75000"/>
                </a:prstClr>
              </a:solidFill>
            </a:endParaRPr>
          </a:p>
        </p:txBody>
      </p:sp>
      <p:sp>
        <p:nvSpPr>
          <p:cNvPr id="6" name="Footer Placeholder 5"/>
          <p:cNvSpPr>
            <a:spLocks noGrp="1"/>
          </p:cNvSpPr>
          <p:nvPr>
            <p:ph type="ftr" sz="quarter" idx="11"/>
          </p:nvPr>
        </p:nvSpPr>
        <p:spPr>
          <a:xfrm>
            <a:off x="3124200" y="4686300"/>
            <a:ext cx="2895600" cy="342900"/>
          </a:xfrm>
        </p:spPr>
        <p:txBody>
          <a:bodyPr/>
          <a:lstStyle>
            <a:lvl1pPr>
              <a:defRPr/>
            </a:lvl1p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6553200" y="4686300"/>
            <a:ext cx="2133600" cy="342900"/>
          </a:xfrm>
        </p:spPr>
        <p:txBody>
          <a:bodyPr/>
          <a:lstStyle>
            <a:lvl1pPr>
              <a:defRPr/>
            </a:lvl1pPr>
          </a:lstStyle>
          <a:p>
            <a:fld id="{2BCB1F91-6231-469A-8154-DE2308BF02C9}"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146521960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7392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0"/>
            <a:ext cx="9144000" cy="5143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prstClr val="white"/>
              </a:solidFill>
            </a:endParaRPr>
          </a:p>
        </p:txBody>
      </p:sp>
      <p:sp>
        <p:nvSpPr>
          <p:cNvPr id="8" name="Rectangle 7"/>
          <p:cNvSpPr/>
          <p:nvPr/>
        </p:nvSpPr>
        <p:spPr>
          <a:xfrm>
            <a:off x="0" y="0"/>
            <a:ext cx="9144000" cy="5143500"/>
          </a:xfrm>
          <a:prstGeom prst="rect">
            <a:avLst/>
          </a:prstGeom>
          <a:blipFill>
            <a:blip r:embed="rId18" cstate="print">
              <a:alphaModFix amt="5000"/>
            </a:blip>
            <a:stretch>
              <a:fillRect l="30000" t="30000" r="30000" b="30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solidFill>
                <a:prstClr val="white"/>
              </a:solidFill>
            </a:endParaRPr>
          </a:p>
        </p:txBody>
      </p:sp>
      <p:sp>
        <p:nvSpPr>
          <p:cNvPr id="9" name="Rectangle 8"/>
          <p:cNvSpPr/>
          <p:nvPr/>
        </p:nvSpPr>
        <p:spPr>
          <a:xfrm>
            <a:off x="0" y="4572000"/>
            <a:ext cx="4572000" cy="571500"/>
          </a:xfrm>
          <a:prstGeom prst="rect">
            <a:avLst/>
          </a:prstGeom>
          <a:solidFill>
            <a:srgbClr val="F596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solidFill>
                <a:srgbClr val="FC8C10"/>
              </a:solidFill>
            </a:endParaRPr>
          </a:p>
        </p:txBody>
      </p:sp>
      <p:sp>
        <p:nvSpPr>
          <p:cNvPr id="10" name="Rectangle 9"/>
          <p:cNvSpPr/>
          <p:nvPr/>
        </p:nvSpPr>
        <p:spPr>
          <a:xfrm>
            <a:off x="4572000" y="4572000"/>
            <a:ext cx="4572000" cy="571500"/>
          </a:xfrm>
          <a:prstGeom prst="rect">
            <a:avLst/>
          </a:prstGeom>
          <a:solidFill>
            <a:srgbClr val="0089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solidFill>
                <a:prstClr val="white"/>
              </a:solidFill>
            </a:endParaRPr>
          </a:p>
        </p:txBody>
      </p:sp>
      <p:sp>
        <p:nvSpPr>
          <p:cNvPr id="2" name="Title Placeholder 1"/>
          <p:cNvSpPr>
            <a:spLocks noGrp="1"/>
          </p:cNvSpPr>
          <p:nvPr>
            <p:ph type="title"/>
          </p:nvPr>
        </p:nvSpPr>
        <p:spPr>
          <a:xfrm>
            <a:off x="228600" y="57150"/>
            <a:ext cx="6248400" cy="85725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228600" y="1085851"/>
            <a:ext cx="8229600" cy="3394472"/>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31B8E310-0E17-44E8-849C-3C6647FDE200}" type="datetimeFigureOut">
              <a:rPr lang="en-US" smtClean="0">
                <a:solidFill>
                  <a:prstClr val="black">
                    <a:tint val="75000"/>
                  </a:prstClr>
                </a:solidFill>
              </a:rPr>
              <a:pPr/>
              <a:t>3/17/2026</a:t>
            </a:fld>
            <a:endParaRPr lang="en-US">
              <a:solidFill>
                <a:prstClr val="black">
                  <a:tint val="75000"/>
                </a:prstClr>
              </a:solidFill>
            </a:endParaRPr>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900">
                <a:solidFill>
                  <a:schemeClr val="tx1"/>
                </a:solidFill>
              </a:defRPr>
            </a:lvl1pPr>
          </a:lstStyle>
          <a:p>
            <a:fld id="{2BCB1F91-6231-469A-8154-DE2308BF02C9}" type="slidenum">
              <a:rPr lang="en-US" smtClean="0">
                <a:solidFill>
                  <a:prstClr val="black"/>
                </a:solidFill>
              </a:rPr>
              <a:pPr/>
              <a:t>‹#›</a:t>
            </a:fld>
            <a:endParaRPr lang="en-US">
              <a:solidFill>
                <a:prstClr val="black"/>
              </a:solidFill>
            </a:endParaRPr>
          </a:p>
        </p:txBody>
      </p:sp>
      <p:cxnSp>
        <p:nvCxnSpPr>
          <p:cNvPr id="11" name="Straight Connector 10"/>
          <p:cNvCxnSpPr/>
          <p:nvPr/>
        </p:nvCxnSpPr>
        <p:spPr>
          <a:xfrm>
            <a:off x="0" y="971550"/>
            <a:ext cx="9144000" cy="119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2" name="Picture 2" descr="E:\naveen works\Rahul\Nttf\NTTF web design\Nttf-logo.png"/>
          <p:cNvPicPr>
            <a:picLocks noChangeAspect="1" noChangeArrowheads="1"/>
          </p:cNvPicPr>
          <p:nvPr/>
        </p:nvPicPr>
        <p:blipFill>
          <a:blip r:embed="rId19" cstate="print"/>
          <a:srcRect/>
          <a:stretch>
            <a:fillRect/>
          </a:stretch>
        </p:blipFill>
        <p:spPr bwMode="auto">
          <a:xfrm>
            <a:off x="6825640" y="57150"/>
            <a:ext cx="2242160" cy="685800"/>
          </a:xfrm>
          <a:prstGeom prst="rect">
            <a:avLst/>
          </a:prstGeom>
          <a:noFill/>
        </p:spPr>
      </p:pic>
    </p:spTree>
    <p:extLst>
      <p:ext uri="{BB962C8B-B14F-4D97-AF65-F5344CB8AC3E}">
        <p14:creationId xmlns:p14="http://schemas.microsoft.com/office/powerpoint/2010/main" val="2180351556"/>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Lst>
  <p:transition spd="slow" advClick="0">
    <p:fade/>
  </p:transition>
  <p:hf sldNum="0" hdr="0" ftr="0" dt="0"/>
  <p:txStyles>
    <p:titleStyle>
      <a:lvl1pPr algn="l" defTabSz="685800" rtl="0" eaLnBrk="1" latinLnBrk="0" hangingPunct="1">
        <a:spcBef>
          <a:spcPct val="0"/>
        </a:spcBef>
        <a:buNone/>
        <a:defRPr sz="18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Tx/>
        <a:buBlip>
          <a:blip r:embed="rId20"/>
        </a:buBlip>
        <a:defRPr sz="1500" kern="1200">
          <a:solidFill>
            <a:schemeClr val="tx1"/>
          </a:solidFill>
          <a:latin typeface="+mn-lt"/>
          <a:ea typeface="+mn-ea"/>
          <a:cs typeface="+mn-cs"/>
        </a:defRPr>
      </a:lvl1pPr>
      <a:lvl2pPr marL="557213" indent="-214313" algn="l" defTabSz="685800" rtl="0" eaLnBrk="1" latinLnBrk="0" hangingPunct="1">
        <a:spcBef>
          <a:spcPct val="20000"/>
        </a:spcBef>
        <a:buFontTx/>
        <a:buBlip>
          <a:blip r:embed="rId20"/>
        </a:buBlip>
        <a:defRPr sz="1050" kern="1200">
          <a:solidFill>
            <a:schemeClr val="tx1"/>
          </a:solidFill>
          <a:latin typeface="+mn-lt"/>
          <a:ea typeface="+mn-ea"/>
          <a:cs typeface="+mn-cs"/>
        </a:defRPr>
      </a:lvl2pPr>
      <a:lvl3pPr marL="857250" indent="-171450" algn="l" defTabSz="685800" rtl="0" eaLnBrk="1" latinLnBrk="0" hangingPunct="1">
        <a:spcBef>
          <a:spcPct val="20000"/>
        </a:spcBef>
        <a:buFontTx/>
        <a:buBlip>
          <a:blip r:embed="rId20"/>
        </a:buBlip>
        <a:defRPr sz="1050" kern="1200">
          <a:solidFill>
            <a:schemeClr val="tx1"/>
          </a:solidFill>
          <a:latin typeface="+mn-lt"/>
          <a:ea typeface="+mn-ea"/>
          <a:cs typeface="+mn-cs"/>
        </a:defRPr>
      </a:lvl3pPr>
      <a:lvl4pPr marL="1200150" indent="-171450" algn="l" defTabSz="685800" rtl="0" eaLnBrk="1" latinLnBrk="0" hangingPunct="1">
        <a:spcBef>
          <a:spcPct val="20000"/>
        </a:spcBef>
        <a:buFontTx/>
        <a:buBlip>
          <a:blip r:embed="rId20"/>
        </a:buBlip>
        <a:defRPr sz="1050" kern="1200">
          <a:solidFill>
            <a:schemeClr val="tx1"/>
          </a:solidFill>
          <a:latin typeface="+mn-lt"/>
          <a:ea typeface="+mn-ea"/>
          <a:cs typeface="+mn-cs"/>
        </a:defRPr>
      </a:lvl4pPr>
      <a:lvl5pPr marL="1543050" indent="-171450" algn="l" defTabSz="685800" rtl="0" eaLnBrk="1" latinLnBrk="0" hangingPunct="1">
        <a:spcBef>
          <a:spcPct val="20000"/>
        </a:spcBef>
        <a:buFontTx/>
        <a:buBlip>
          <a:blip r:embed="rId20"/>
        </a:buBlip>
        <a:defRPr sz="105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6.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6.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63946"/>
          </a:solidFill>
          <a:ln/>
        </p:spPr>
        <p:txBody>
          <a:bodyPr/>
          <a:lstStyle/>
          <a:p>
            <a:endParaRPr lang="en-IN"/>
          </a:p>
        </p:txBody>
      </p:sp>
      <p:sp>
        <p:nvSpPr>
          <p:cNvPr id="3" name="Shape 1"/>
          <p:cNvSpPr/>
          <p:nvPr/>
        </p:nvSpPr>
        <p:spPr>
          <a:xfrm>
            <a:off x="9034272" y="0"/>
            <a:ext cx="109728" cy="5143500"/>
          </a:xfrm>
          <a:prstGeom prst="rect">
            <a:avLst/>
          </a:prstGeom>
          <a:solidFill>
            <a:srgbClr val="06D6A0"/>
          </a:solidFill>
          <a:ln/>
        </p:spPr>
        <p:txBody>
          <a:bodyPr/>
          <a:lstStyle/>
          <a:p>
            <a:endParaRPr lang="en-IN"/>
          </a:p>
        </p:txBody>
      </p:sp>
      <p:sp>
        <p:nvSpPr>
          <p:cNvPr id="4" name="Shape 2"/>
          <p:cNvSpPr/>
          <p:nvPr/>
        </p:nvSpPr>
        <p:spPr>
          <a:xfrm>
            <a:off x="4517136" y="1005840"/>
            <a:ext cx="36576" cy="2286000"/>
          </a:xfrm>
          <a:prstGeom prst="rect">
            <a:avLst/>
          </a:prstGeom>
          <a:solidFill>
            <a:srgbClr val="8B949E"/>
          </a:solidFill>
          <a:ln/>
        </p:spPr>
        <p:txBody>
          <a:bodyPr/>
          <a:lstStyle/>
          <a:p>
            <a:endParaRPr lang="en-IN"/>
          </a:p>
        </p:txBody>
      </p:sp>
      <p:pic>
        <p:nvPicPr>
          <p:cNvPr id="5" name="Image 0" descr="preencoded.png"/>
          <p:cNvPicPr>
            <a:picLocks noChangeAspect="1"/>
          </p:cNvPicPr>
          <p:nvPr/>
        </p:nvPicPr>
        <p:blipFill>
          <a:blip r:embed="rId3"/>
          <a:stretch>
            <a:fillRect/>
          </a:stretch>
        </p:blipFill>
        <p:spPr>
          <a:xfrm>
            <a:off x="1097280" y="777240"/>
            <a:ext cx="1005840" cy="1005840"/>
          </a:xfrm>
          <a:prstGeom prst="rect">
            <a:avLst/>
          </a:prstGeom>
        </p:spPr>
      </p:pic>
      <p:sp>
        <p:nvSpPr>
          <p:cNvPr id="6" name="Text 3"/>
          <p:cNvSpPr/>
          <p:nvPr/>
        </p:nvSpPr>
        <p:spPr>
          <a:xfrm>
            <a:off x="274320" y="1874520"/>
            <a:ext cx="4023360" cy="502920"/>
          </a:xfrm>
          <a:prstGeom prst="rect">
            <a:avLst/>
          </a:prstGeom>
          <a:noFill/>
          <a:ln/>
        </p:spPr>
        <p:txBody>
          <a:bodyPr wrap="square" lIns="0" tIns="0" rIns="0" bIns="0" rtlCol="0" anchor="ctr"/>
          <a:lstStyle/>
          <a:p>
            <a:pPr marL="0" indent="0" algn="ctr">
              <a:buNone/>
            </a:pPr>
            <a:r>
              <a:rPr lang="en-US" sz="2600" b="1" dirty="0">
                <a:solidFill>
                  <a:srgbClr val="E63946"/>
                </a:solidFill>
                <a:latin typeface="Arial Black" pitchFamily="34" charset="0"/>
                <a:ea typeface="Arial Black" pitchFamily="34" charset="-122"/>
                <a:cs typeface="Arial Black" pitchFamily="34" charset="-120"/>
              </a:rPr>
              <a:t>OFFENSIVE</a:t>
            </a:r>
            <a:endParaRPr lang="en-US" sz="2600" dirty="0"/>
          </a:p>
        </p:txBody>
      </p:sp>
      <p:sp>
        <p:nvSpPr>
          <p:cNvPr id="7" name="Text 4"/>
          <p:cNvSpPr/>
          <p:nvPr/>
        </p:nvSpPr>
        <p:spPr>
          <a:xfrm>
            <a:off x="274320" y="2377440"/>
            <a:ext cx="4023360" cy="365760"/>
          </a:xfrm>
          <a:prstGeom prst="rect">
            <a:avLst/>
          </a:prstGeom>
          <a:noFill/>
          <a:ln/>
        </p:spPr>
        <p:txBody>
          <a:bodyPr wrap="square" lIns="0" tIns="0" rIns="0" bIns="0" rtlCol="0" anchor="ctr"/>
          <a:lstStyle/>
          <a:p>
            <a:pPr marL="0" indent="0" algn="ctr">
              <a:buNone/>
            </a:pPr>
            <a:r>
              <a:rPr lang="en-US" sz="1800" dirty="0">
                <a:solidFill>
                  <a:srgbClr val="FF0000"/>
                </a:solidFill>
                <a:latin typeface="Calibri" pitchFamily="34" charset="0"/>
                <a:ea typeface="Calibri" pitchFamily="34" charset="-122"/>
                <a:cs typeface="Calibri" pitchFamily="34" charset="-120"/>
              </a:rPr>
              <a:t>Security</a:t>
            </a:r>
            <a:endParaRPr lang="en-US" sz="1800" dirty="0">
              <a:solidFill>
                <a:srgbClr val="FF0000"/>
              </a:solidFill>
            </a:endParaRPr>
          </a:p>
        </p:txBody>
      </p:sp>
      <p:pic>
        <p:nvPicPr>
          <p:cNvPr id="8" name="Image 1" descr="preencoded.png"/>
          <p:cNvPicPr>
            <a:picLocks noChangeAspect="1"/>
          </p:cNvPicPr>
          <p:nvPr/>
        </p:nvPicPr>
        <p:blipFill>
          <a:blip r:embed="rId4"/>
          <a:stretch>
            <a:fillRect/>
          </a:stretch>
        </p:blipFill>
        <p:spPr>
          <a:xfrm>
            <a:off x="7040880" y="777240"/>
            <a:ext cx="1005840" cy="1005840"/>
          </a:xfrm>
          <a:prstGeom prst="rect">
            <a:avLst/>
          </a:prstGeom>
        </p:spPr>
      </p:pic>
      <p:sp>
        <p:nvSpPr>
          <p:cNvPr id="9" name="Text 5"/>
          <p:cNvSpPr/>
          <p:nvPr/>
        </p:nvSpPr>
        <p:spPr>
          <a:xfrm>
            <a:off x="4846320" y="1874520"/>
            <a:ext cx="4023360" cy="502920"/>
          </a:xfrm>
          <a:prstGeom prst="rect">
            <a:avLst/>
          </a:prstGeom>
          <a:noFill/>
          <a:ln/>
        </p:spPr>
        <p:txBody>
          <a:bodyPr wrap="square" lIns="0" tIns="0" rIns="0" bIns="0" rtlCol="0" anchor="ctr"/>
          <a:lstStyle/>
          <a:p>
            <a:pPr marL="0" indent="0" algn="ctr">
              <a:buNone/>
            </a:pPr>
            <a:r>
              <a:rPr lang="en-US" sz="2600" b="1" dirty="0">
                <a:solidFill>
                  <a:srgbClr val="06D6A0"/>
                </a:solidFill>
                <a:latin typeface="Arial Black" pitchFamily="34" charset="0"/>
                <a:ea typeface="Arial Black" pitchFamily="34" charset="-122"/>
                <a:cs typeface="Arial Black" pitchFamily="34" charset="-120"/>
              </a:rPr>
              <a:t>DEFENSIVE</a:t>
            </a:r>
            <a:endParaRPr lang="en-US" sz="2600" dirty="0"/>
          </a:p>
        </p:txBody>
      </p:sp>
      <p:sp>
        <p:nvSpPr>
          <p:cNvPr id="10" name="Text 6"/>
          <p:cNvSpPr/>
          <p:nvPr/>
        </p:nvSpPr>
        <p:spPr>
          <a:xfrm>
            <a:off x="4846320" y="2377440"/>
            <a:ext cx="4023360" cy="365760"/>
          </a:xfrm>
          <a:prstGeom prst="rect">
            <a:avLst/>
          </a:prstGeom>
          <a:noFill/>
          <a:ln/>
        </p:spPr>
        <p:txBody>
          <a:bodyPr wrap="square" lIns="0" tIns="0" rIns="0" bIns="0" rtlCol="0" anchor="ctr"/>
          <a:lstStyle/>
          <a:p>
            <a:pPr marL="0" indent="0" algn="ctr">
              <a:buNone/>
            </a:pPr>
            <a:r>
              <a:rPr lang="en-US" sz="1800" dirty="0">
                <a:solidFill>
                  <a:srgbClr val="00B050"/>
                </a:solidFill>
                <a:latin typeface="Calibri" pitchFamily="34" charset="0"/>
                <a:ea typeface="Calibri" pitchFamily="34" charset="-122"/>
                <a:cs typeface="Calibri" pitchFamily="34" charset="-120"/>
              </a:rPr>
              <a:t>Security</a:t>
            </a:r>
            <a:endParaRPr lang="en-US" sz="1800" dirty="0">
              <a:solidFill>
                <a:srgbClr val="00B050"/>
              </a:solidFill>
            </a:endParaRPr>
          </a:p>
        </p:txBody>
      </p:sp>
      <p:sp>
        <p:nvSpPr>
          <p:cNvPr id="11" name="Text 7"/>
          <p:cNvSpPr/>
          <p:nvPr/>
        </p:nvSpPr>
        <p:spPr>
          <a:xfrm>
            <a:off x="274320" y="2880360"/>
            <a:ext cx="8595360" cy="594360"/>
          </a:xfrm>
          <a:prstGeom prst="rect">
            <a:avLst/>
          </a:prstGeom>
          <a:noFill/>
          <a:ln/>
        </p:spPr>
        <p:txBody>
          <a:bodyPr wrap="square" lIns="0" tIns="0" rIns="0" bIns="0" rtlCol="0" anchor="ctr"/>
          <a:lstStyle/>
          <a:p>
            <a:pPr marL="0" indent="0" algn="ctr">
              <a:buNone/>
            </a:pPr>
            <a:r>
              <a:rPr lang="en-US" sz="3400" b="1" dirty="0">
                <a:solidFill>
                  <a:srgbClr val="00B0F0"/>
                </a:solidFill>
                <a:latin typeface="Arial Black" pitchFamily="34" charset="0"/>
                <a:ea typeface="Arial Black" pitchFamily="34" charset="-122"/>
                <a:cs typeface="Arial Black" pitchFamily="34" charset="-120"/>
              </a:rPr>
              <a:t>Cyber Security</a:t>
            </a:r>
            <a:endParaRPr lang="en-US" sz="3400" dirty="0">
              <a:solidFill>
                <a:srgbClr val="00B0F0"/>
              </a:solidFill>
            </a:endParaRPr>
          </a:p>
        </p:txBody>
      </p:sp>
      <p:sp>
        <p:nvSpPr>
          <p:cNvPr id="12" name="Text 8"/>
          <p:cNvSpPr/>
          <p:nvPr/>
        </p:nvSpPr>
        <p:spPr>
          <a:xfrm>
            <a:off x="274320" y="3474720"/>
            <a:ext cx="8595360" cy="365760"/>
          </a:xfrm>
          <a:prstGeom prst="rect">
            <a:avLst/>
          </a:prstGeom>
          <a:noFill/>
          <a:ln/>
        </p:spPr>
        <p:txBody>
          <a:bodyPr wrap="square" lIns="0" tIns="0" rIns="0" bIns="0" rtlCol="0" anchor="ctr"/>
          <a:lstStyle/>
          <a:p>
            <a:pPr marL="0" indent="0" algn="ctr">
              <a:buNone/>
            </a:pPr>
            <a:r>
              <a:rPr lang="en-US" sz="1600" i="1" dirty="0">
                <a:solidFill>
                  <a:srgbClr val="8B949E"/>
                </a:solidFill>
                <a:latin typeface="Calibri" pitchFamily="34" charset="0"/>
                <a:ea typeface="Calibri" pitchFamily="34" charset="-122"/>
                <a:cs typeface="Calibri" pitchFamily="34" charset="-120"/>
              </a:rPr>
              <a:t>Attack, Defend, Repeat</a:t>
            </a:r>
            <a:endParaRPr lang="en-US" sz="1600" dirty="0"/>
          </a:p>
        </p:txBody>
      </p:sp>
      <p:sp>
        <p:nvSpPr>
          <p:cNvPr id="13" name="Shape 9"/>
          <p:cNvSpPr/>
          <p:nvPr/>
        </p:nvSpPr>
        <p:spPr>
          <a:xfrm>
            <a:off x="0" y="4617720"/>
            <a:ext cx="9144000" cy="525780"/>
          </a:xfrm>
          <a:prstGeom prst="rect">
            <a:avLst/>
          </a:prstGeom>
          <a:solidFill>
            <a:srgbClr val="0A0F16"/>
          </a:solidFill>
          <a:ln/>
        </p:spPr>
        <p:txBody>
          <a:bodyPr/>
          <a:lstStyle/>
          <a:p>
            <a:endParaRPr lang="en-IN"/>
          </a:p>
        </p:txBody>
      </p:sp>
      <p:sp>
        <p:nvSpPr>
          <p:cNvPr id="14" name="Shape 10"/>
          <p:cNvSpPr/>
          <p:nvPr/>
        </p:nvSpPr>
        <p:spPr>
          <a:xfrm>
            <a:off x="0" y="4617720"/>
            <a:ext cx="9144000" cy="36576"/>
          </a:xfrm>
          <a:prstGeom prst="rect">
            <a:avLst/>
          </a:prstGeom>
          <a:solidFill>
            <a:srgbClr val="58A6FF"/>
          </a:solidFill>
          <a:ln/>
        </p:spPr>
        <p:txBody>
          <a:bodyPr/>
          <a:lstStyle/>
          <a:p>
            <a:endParaRPr lang="en-IN"/>
          </a:p>
        </p:txBody>
      </p:sp>
      <p:sp>
        <p:nvSpPr>
          <p:cNvPr id="15" name="Text 11"/>
          <p:cNvSpPr/>
          <p:nvPr/>
        </p:nvSpPr>
        <p:spPr>
          <a:xfrm>
            <a:off x="182880" y="4654296"/>
            <a:ext cx="8778240" cy="457200"/>
          </a:xfrm>
          <a:prstGeom prst="rect">
            <a:avLst/>
          </a:prstGeom>
          <a:noFill/>
          <a:ln/>
        </p:spPr>
        <p:txBody>
          <a:bodyPr wrap="square" lIns="0" tIns="0" rIns="0" bIns="0" rtlCol="0" anchor="ctr"/>
          <a:lstStyle/>
          <a:p>
            <a:pPr marL="0" indent="0">
              <a:buNone/>
            </a:pPr>
            <a:r>
              <a:rPr lang="en-US" sz="1050" i="1" dirty="0">
                <a:solidFill>
                  <a:srgbClr val="8B949E"/>
                </a:solidFill>
                <a:latin typeface="Calibri" pitchFamily="34" charset="0"/>
                <a:ea typeface="Calibri" pitchFamily="34" charset="-122"/>
                <a:cs typeface="Calibri" pitchFamily="34" charset="-120"/>
              </a:rPr>
              <a:t>📋  This presentation introduces the two fundamental disciplines of cybersecurity — Offensive (attacking to expose weaknesses) and Defensive (protecting to stop threats). Both sides are essential to building resilient systems.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E2A38"/>
          </a:solidFill>
          <a:ln/>
        </p:spPr>
        <p:txBody>
          <a:bodyPr/>
          <a:lstStyle/>
          <a:p>
            <a:endParaRPr lang="en-IN"/>
          </a:p>
        </p:txBody>
      </p:sp>
      <p:sp>
        <p:nvSpPr>
          <p:cNvPr id="3" name="Text 1"/>
          <p:cNvSpPr/>
          <p:nvPr/>
        </p:nvSpPr>
        <p:spPr>
          <a:xfrm>
            <a:off x="274320" y="0"/>
            <a:ext cx="8595360" cy="594360"/>
          </a:xfrm>
          <a:prstGeom prst="rect">
            <a:avLst/>
          </a:prstGeom>
          <a:noFill/>
          <a:ln/>
        </p:spPr>
        <p:txBody>
          <a:bodyPr wrap="square" lIns="0" tIns="0" rIns="0" bIns="0" rtlCol="0" anchor="ctr"/>
          <a:lstStyle/>
          <a:p>
            <a:pPr marL="0" indent="0" algn="l">
              <a:buNone/>
            </a:pPr>
            <a:r>
              <a:rPr lang="en-US" sz="1800" b="1" dirty="0">
                <a:solidFill>
                  <a:srgbClr val="F0F6FC"/>
                </a:solidFill>
                <a:latin typeface="Arial Black" pitchFamily="34" charset="0"/>
                <a:ea typeface="Arial Black" pitchFamily="34" charset="-122"/>
                <a:cs typeface="Arial Black" pitchFamily="34" charset="-120"/>
              </a:rPr>
              <a:t>THE TWO SIDES OF CYBERSECURITY</a:t>
            </a:r>
            <a:endParaRPr lang="en-US" sz="1800" dirty="0"/>
          </a:p>
        </p:txBody>
      </p:sp>
      <p:sp>
        <p:nvSpPr>
          <p:cNvPr id="4" name="Shape 2"/>
          <p:cNvSpPr/>
          <p:nvPr/>
        </p:nvSpPr>
        <p:spPr>
          <a:xfrm>
            <a:off x="228600" y="685800"/>
            <a:ext cx="4114800" cy="3794760"/>
          </a:xfrm>
          <a:prstGeom prst="rect">
            <a:avLst/>
          </a:prstGeom>
          <a:solidFill>
            <a:srgbClr val="161B22"/>
          </a:solidFill>
          <a:ln/>
          <a:effectLst>
            <a:outerShdw blurRad="152400" dist="25400" dir="8100000" algn="bl" rotWithShape="0">
              <a:srgbClr val="E63946">
                <a:alpha val="30000"/>
              </a:srgbClr>
            </a:outerShdw>
          </a:effectLst>
        </p:spPr>
        <p:txBody>
          <a:bodyPr/>
          <a:lstStyle/>
          <a:p>
            <a:endParaRPr lang="en-IN"/>
          </a:p>
        </p:txBody>
      </p:sp>
      <p:sp>
        <p:nvSpPr>
          <p:cNvPr id="5" name="Shape 3"/>
          <p:cNvSpPr/>
          <p:nvPr/>
        </p:nvSpPr>
        <p:spPr>
          <a:xfrm>
            <a:off x="228600" y="685800"/>
            <a:ext cx="4114800" cy="73152"/>
          </a:xfrm>
          <a:prstGeom prst="rect">
            <a:avLst/>
          </a:prstGeom>
          <a:solidFill>
            <a:srgbClr val="E63946"/>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411480" y="822960"/>
            <a:ext cx="548640" cy="548640"/>
          </a:xfrm>
          <a:prstGeom prst="rect">
            <a:avLst/>
          </a:prstGeom>
        </p:spPr>
      </p:pic>
      <p:sp>
        <p:nvSpPr>
          <p:cNvPr id="7" name="Text 4"/>
          <p:cNvSpPr/>
          <p:nvPr/>
        </p:nvSpPr>
        <p:spPr>
          <a:xfrm>
            <a:off x="1051560" y="822960"/>
            <a:ext cx="3108960" cy="548640"/>
          </a:xfrm>
          <a:prstGeom prst="rect">
            <a:avLst/>
          </a:prstGeom>
          <a:noFill/>
          <a:ln/>
        </p:spPr>
        <p:txBody>
          <a:bodyPr wrap="square" lIns="0" tIns="0" rIns="0" bIns="0" rtlCol="0" anchor="ctr"/>
          <a:lstStyle/>
          <a:p>
            <a:pPr marL="0" indent="0">
              <a:buNone/>
            </a:pPr>
            <a:r>
              <a:rPr lang="en-US" sz="1500" b="1" dirty="0">
                <a:solidFill>
                  <a:srgbClr val="E63946"/>
                </a:solidFill>
                <a:latin typeface="Arial Black" pitchFamily="34" charset="0"/>
                <a:ea typeface="Arial Black" pitchFamily="34" charset="-122"/>
                <a:cs typeface="Arial Black" pitchFamily="34" charset="-120"/>
              </a:rPr>
              <a:t>OFFENSIVE SECURITY</a:t>
            </a:r>
            <a:endParaRPr lang="en-US" sz="1500" dirty="0"/>
          </a:p>
        </p:txBody>
      </p:sp>
      <p:sp>
        <p:nvSpPr>
          <p:cNvPr id="8" name="Text 5"/>
          <p:cNvSpPr/>
          <p:nvPr/>
        </p:nvSpPr>
        <p:spPr>
          <a:xfrm>
            <a:off x="365760" y="1481328"/>
            <a:ext cx="3840480" cy="384048"/>
          </a:xfrm>
          <a:prstGeom prst="rect">
            <a:avLst/>
          </a:prstGeom>
          <a:noFill/>
          <a:ln/>
        </p:spPr>
        <p:txBody>
          <a:bodyPr wrap="square" lIns="0" tIns="0" rIns="0" bIns="0" rtlCol="0" anchor="ctr"/>
          <a:lstStyle/>
          <a:p>
            <a:pPr marL="0" indent="0">
              <a:buNone/>
            </a:pPr>
            <a:r>
              <a:rPr lang="en-US" sz="1300" dirty="0">
                <a:solidFill>
                  <a:srgbClr val="F0F6FC"/>
                </a:solidFill>
                <a:latin typeface="Calibri" pitchFamily="34" charset="0"/>
                <a:ea typeface="Calibri" pitchFamily="34" charset="-122"/>
                <a:cs typeface="Calibri" pitchFamily="34" charset="-120"/>
              </a:rPr>
              <a:t>→  Also known as Red Teaming</a:t>
            </a:r>
            <a:endParaRPr lang="en-US" sz="1300" dirty="0"/>
          </a:p>
        </p:txBody>
      </p:sp>
      <p:sp>
        <p:nvSpPr>
          <p:cNvPr id="9" name="Text 6"/>
          <p:cNvSpPr/>
          <p:nvPr/>
        </p:nvSpPr>
        <p:spPr>
          <a:xfrm>
            <a:off x="365760" y="1938528"/>
            <a:ext cx="3840480" cy="384048"/>
          </a:xfrm>
          <a:prstGeom prst="rect">
            <a:avLst/>
          </a:prstGeom>
          <a:noFill/>
          <a:ln/>
        </p:spPr>
        <p:txBody>
          <a:bodyPr wrap="square" lIns="0" tIns="0" rIns="0" bIns="0" rtlCol="0" anchor="ctr"/>
          <a:lstStyle/>
          <a:p>
            <a:pPr marL="0" indent="0">
              <a:buNone/>
            </a:pPr>
            <a:r>
              <a:rPr lang="en-US" sz="1300" dirty="0">
                <a:solidFill>
                  <a:srgbClr val="F0F6FC"/>
                </a:solidFill>
                <a:latin typeface="Calibri" pitchFamily="34" charset="0"/>
                <a:ea typeface="Calibri" pitchFamily="34" charset="-122"/>
                <a:cs typeface="Calibri" pitchFamily="34" charset="-120"/>
              </a:rPr>
              <a:t>→  Simulates real-world attacks</a:t>
            </a:r>
            <a:endParaRPr lang="en-US" sz="1300" dirty="0"/>
          </a:p>
        </p:txBody>
      </p:sp>
      <p:sp>
        <p:nvSpPr>
          <p:cNvPr id="10" name="Text 7"/>
          <p:cNvSpPr/>
          <p:nvPr/>
        </p:nvSpPr>
        <p:spPr>
          <a:xfrm>
            <a:off x="365760" y="2395728"/>
            <a:ext cx="3840480" cy="384048"/>
          </a:xfrm>
          <a:prstGeom prst="rect">
            <a:avLst/>
          </a:prstGeom>
          <a:noFill/>
          <a:ln/>
        </p:spPr>
        <p:txBody>
          <a:bodyPr wrap="square" lIns="0" tIns="0" rIns="0" bIns="0" rtlCol="0" anchor="ctr"/>
          <a:lstStyle/>
          <a:p>
            <a:pPr marL="0" indent="0">
              <a:buNone/>
            </a:pPr>
            <a:r>
              <a:rPr lang="en-US" sz="1300" dirty="0">
                <a:solidFill>
                  <a:srgbClr val="F0F6FC"/>
                </a:solidFill>
                <a:latin typeface="Calibri" pitchFamily="34" charset="0"/>
                <a:ea typeface="Calibri" pitchFamily="34" charset="-122"/>
                <a:cs typeface="Calibri" pitchFamily="34" charset="-120"/>
              </a:rPr>
              <a:t>→  Finds vulnerabilities before attackers do</a:t>
            </a:r>
            <a:endParaRPr lang="en-US" sz="1300" dirty="0"/>
          </a:p>
        </p:txBody>
      </p:sp>
      <p:sp>
        <p:nvSpPr>
          <p:cNvPr id="11" name="Text 8"/>
          <p:cNvSpPr/>
          <p:nvPr/>
        </p:nvSpPr>
        <p:spPr>
          <a:xfrm>
            <a:off x="365760" y="2852928"/>
            <a:ext cx="3840480" cy="384048"/>
          </a:xfrm>
          <a:prstGeom prst="rect">
            <a:avLst/>
          </a:prstGeom>
          <a:noFill/>
          <a:ln/>
        </p:spPr>
        <p:txBody>
          <a:bodyPr wrap="square" lIns="0" tIns="0" rIns="0" bIns="0" rtlCol="0" anchor="ctr"/>
          <a:lstStyle/>
          <a:p>
            <a:pPr marL="0" indent="0">
              <a:buNone/>
            </a:pPr>
            <a:r>
              <a:rPr lang="en-US" sz="1300" dirty="0">
                <a:solidFill>
                  <a:srgbClr val="F0F6FC"/>
                </a:solidFill>
                <a:latin typeface="Calibri" pitchFamily="34" charset="0"/>
                <a:ea typeface="Calibri" pitchFamily="34" charset="-122"/>
                <a:cs typeface="Calibri" pitchFamily="34" charset="-120"/>
              </a:rPr>
              <a:t>→  Includes ethical hacking &amp; pen testing</a:t>
            </a:r>
            <a:endParaRPr lang="en-US" sz="1300" dirty="0"/>
          </a:p>
        </p:txBody>
      </p:sp>
      <p:sp>
        <p:nvSpPr>
          <p:cNvPr id="12" name="Text 9"/>
          <p:cNvSpPr/>
          <p:nvPr/>
        </p:nvSpPr>
        <p:spPr>
          <a:xfrm>
            <a:off x="365760" y="3310128"/>
            <a:ext cx="3840480" cy="384048"/>
          </a:xfrm>
          <a:prstGeom prst="rect">
            <a:avLst/>
          </a:prstGeom>
          <a:noFill/>
          <a:ln/>
        </p:spPr>
        <p:txBody>
          <a:bodyPr wrap="square" lIns="0" tIns="0" rIns="0" bIns="0" rtlCol="0" anchor="ctr"/>
          <a:lstStyle/>
          <a:p>
            <a:pPr marL="0" indent="0">
              <a:buNone/>
            </a:pPr>
            <a:r>
              <a:rPr lang="en-US" sz="1300" dirty="0">
                <a:solidFill>
                  <a:srgbClr val="F0F6FC"/>
                </a:solidFill>
                <a:latin typeface="Calibri" pitchFamily="34" charset="0"/>
                <a:ea typeface="Calibri" pitchFamily="34" charset="-122"/>
                <a:cs typeface="Calibri" pitchFamily="34" charset="-120"/>
              </a:rPr>
              <a:t>→  Goal: expose weaknesses proactively</a:t>
            </a:r>
            <a:endParaRPr lang="en-US" sz="1300" dirty="0"/>
          </a:p>
        </p:txBody>
      </p:sp>
      <p:sp>
        <p:nvSpPr>
          <p:cNvPr id="13" name="Shape 10"/>
          <p:cNvSpPr/>
          <p:nvPr/>
        </p:nvSpPr>
        <p:spPr>
          <a:xfrm>
            <a:off x="4800600" y="685800"/>
            <a:ext cx="4114800" cy="3794760"/>
          </a:xfrm>
          <a:prstGeom prst="rect">
            <a:avLst/>
          </a:prstGeom>
          <a:solidFill>
            <a:srgbClr val="161B22"/>
          </a:solidFill>
          <a:ln/>
          <a:effectLst>
            <a:outerShdw blurRad="152400" dist="25400" dir="8100000" algn="bl" rotWithShape="0">
              <a:srgbClr val="06D6A0">
                <a:alpha val="30000"/>
              </a:srgbClr>
            </a:outerShdw>
          </a:effectLst>
        </p:spPr>
        <p:txBody>
          <a:bodyPr/>
          <a:lstStyle/>
          <a:p>
            <a:endParaRPr lang="en-IN"/>
          </a:p>
        </p:txBody>
      </p:sp>
      <p:sp>
        <p:nvSpPr>
          <p:cNvPr id="14" name="Shape 11"/>
          <p:cNvSpPr/>
          <p:nvPr/>
        </p:nvSpPr>
        <p:spPr>
          <a:xfrm>
            <a:off x="4800600" y="685800"/>
            <a:ext cx="4114800" cy="73152"/>
          </a:xfrm>
          <a:prstGeom prst="rect">
            <a:avLst/>
          </a:prstGeom>
          <a:solidFill>
            <a:srgbClr val="06D6A0"/>
          </a:solidFill>
          <a:ln/>
        </p:spPr>
        <p:txBody>
          <a:bodyPr/>
          <a:lstStyle/>
          <a:p>
            <a:endParaRPr lang="en-IN"/>
          </a:p>
        </p:txBody>
      </p:sp>
      <p:pic>
        <p:nvPicPr>
          <p:cNvPr id="15" name="Image 1" descr="preencoded.png"/>
          <p:cNvPicPr>
            <a:picLocks noChangeAspect="1"/>
          </p:cNvPicPr>
          <p:nvPr/>
        </p:nvPicPr>
        <p:blipFill>
          <a:blip r:embed="rId4"/>
          <a:stretch>
            <a:fillRect/>
          </a:stretch>
        </p:blipFill>
        <p:spPr>
          <a:xfrm>
            <a:off x="4983480" y="822960"/>
            <a:ext cx="548640" cy="548640"/>
          </a:xfrm>
          <a:prstGeom prst="rect">
            <a:avLst/>
          </a:prstGeom>
        </p:spPr>
      </p:pic>
      <p:sp>
        <p:nvSpPr>
          <p:cNvPr id="16" name="Text 12"/>
          <p:cNvSpPr/>
          <p:nvPr/>
        </p:nvSpPr>
        <p:spPr>
          <a:xfrm>
            <a:off x="5623560" y="822960"/>
            <a:ext cx="3108960" cy="548640"/>
          </a:xfrm>
          <a:prstGeom prst="rect">
            <a:avLst/>
          </a:prstGeom>
          <a:noFill/>
          <a:ln/>
        </p:spPr>
        <p:txBody>
          <a:bodyPr wrap="square" lIns="0" tIns="0" rIns="0" bIns="0" rtlCol="0" anchor="ctr"/>
          <a:lstStyle/>
          <a:p>
            <a:pPr marL="0" indent="0">
              <a:buNone/>
            </a:pPr>
            <a:r>
              <a:rPr lang="en-US" sz="1500" b="1" dirty="0">
                <a:solidFill>
                  <a:srgbClr val="06D6A0"/>
                </a:solidFill>
                <a:latin typeface="Arial Black" pitchFamily="34" charset="0"/>
                <a:ea typeface="Arial Black" pitchFamily="34" charset="-122"/>
                <a:cs typeface="Arial Black" pitchFamily="34" charset="-120"/>
              </a:rPr>
              <a:t>DEFENSIVE SECURITY</a:t>
            </a:r>
            <a:endParaRPr lang="en-US" sz="1500" dirty="0"/>
          </a:p>
        </p:txBody>
      </p:sp>
      <p:sp>
        <p:nvSpPr>
          <p:cNvPr id="17" name="Text 13"/>
          <p:cNvSpPr/>
          <p:nvPr/>
        </p:nvSpPr>
        <p:spPr>
          <a:xfrm>
            <a:off x="4937760" y="1481328"/>
            <a:ext cx="3840480" cy="384048"/>
          </a:xfrm>
          <a:prstGeom prst="rect">
            <a:avLst/>
          </a:prstGeom>
          <a:noFill/>
          <a:ln/>
        </p:spPr>
        <p:txBody>
          <a:bodyPr wrap="square" lIns="0" tIns="0" rIns="0" bIns="0" rtlCol="0" anchor="ctr"/>
          <a:lstStyle/>
          <a:p>
            <a:pPr marL="0" indent="0">
              <a:buNone/>
            </a:pPr>
            <a:r>
              <a:rPr lang="en-US" sz="1300" dirty="0">
                <a:solidFill>
                  <a:srgbClr val="F0F6FC"/>
                </a:solidFill>
                <a:latin typeface="Calibri" pitchFamily="34" charset="0"/>
                <a:ea typeface="Calibri" pitchFamily="34" charset="-122"/>
                <a:cs typeface="Calibri" pitchFamily="34" charset="-120"/>
              </a:rPr>
              <a:t>→  Also known as Blue Teaming</a:t>
            </a:r>
            <a:endParaRPr lang="en-US" sz="1300" dirty="0"/>
          </a:p>
        </p:txBody>
      </p:sp>
      <p:sp>
        <p:nvSpPr>
          <p:cNvPr id="18" name="Text 14"/>
          <p:cNvSpPr/>
          <p:nvPr/>
        </p:nvSpPr>
        <p:spPr>
          <a:xfrm>
            <a:off x="4937760" y="1938528"/>
            <a:ext cx="3840480" cy="384048"/>
          </a:xfrm>
          <a:prstGeom prst="rect">
            <a:avLst/>
          </a:prstGeom>
          <a:noFill/>
          <a:ln/>
        </p:spPr>
        <p:txBody>
          <a:bodyPr wrap="square" lIns="0" tIns="0" rIns="0" bIns="0" rtlCol="0" anchor="ctr"/>
          <a:lstStyle/>
          <a:p>
            <a:pPr marL="0" indent="0">
              <a:buNone/>
            </a:pPr>
            <a:r>
              <a:rPr lang="en-US" sz="1300" dirty="0">
                <a:solidFill>
                  <a:srgbClr val="F0F6FC"/>
                </a:solidFill>
                <a:latin typeface="Calibri" pitchFamily="34" charset="0"/>
                <a:ea typeface="Calibri" pitchFamily="34" charset="-122"/>
                <a:cs typeface="Calibri" pitchFamily="34" charset="-120"/>
              </a:rPr>
              <a:t>→  Protects systems from attacks</a:t>
            </a:r>
            <a:endParaRPr lang="en-US" sz="1300" dirty="0"/>
          </a:p>
        </p:txBody>
      </p:sp>
      <p:sp>
        <p:nvSpPr>
          <p:cNvPr id="19" name="Text 15"/>
          <p:cNvSpPr/>
          <p:nvPr/>
        </p:nvSpPr>
        <p:spPr>
          <a:xfrm>
            <a:off x="4937760" y="2395728"/>
            <a:ext cx="3840480" cy="384048"/>
          </a:xfrm>
          <a:prstGeom prst="rect">
            <a:avLst/>
          </a:prstGeom>
          <a:noFill/>
          <a:ln/>
        </p:spPr>
        <p:txBody>
          <a:bodyPr wrap="square" lIns="0" tIns="0" rIns="0" bIns="0" rtlCol="0" anchor="ctr"/>
          <a:lstStyle/>
          <a:p>
            <a:pPr marL="0" indent="0">
              <a:buNone/>
            </a:pPr>
            <a:r>
              <a:rPr lang="en-US" sz="1300" dirty="0">
                <a:solidFill>
                  <a:srgbClr val="F0F6FC"/>
                </a:solidFill>
                <a:latin typeface="Calibri" pitchFamily="34" charset="0"/>
                <a:ea typeface="Calibri" pitchFamily="34" charset="-122"/>
                <a:cs typeface="Calibri" pitchFamily="34" charset="-120"/>
              </a:rPr>
              <a:t>→  Detects, responds, and recovers</a:t>
            </a:r>
            <a:endParaRPr lang="en-US" sz="1300" dirty="0"/>
          </a:p>
        </p:txBody>
      </p:sp>
      <p:sp>
        <p:nvSpPr>
          <p:cNvPr id="20" name="Text 16"/>
          <p:cNvSpPr/>
          <p:nvPr/>
        </p:nvSpPr>
        <p:spPr>
          <a:xfrm>
            <a:off x="4937760" y="2852928"/>
            <a:ext cx="3840480" cy="384048"/>
          </a:xfrm>
          <a:prstGeom prst="rect">
            <a:avLst/>
          </a:prstGeom>
          <a:noFill/>
          <a:ln/>
        </p:spPr>
        <p:txBody>
          <a:bodyPr wrap="square" lIns="0" tIns="0" rIns="0" bIns="0" rtlCol="0" anchor="ctr"/>
          <a:lstStyle/>
          <a:p>
            <a:pPr marL="0" indent="0">
              <a:buNone/>
            </a:pPr>
            <a:r>
              <a:rPr lang="en-US" sz="1300" dirty="0">
                <a:solidFill>
                  <a:srgbClr val="F0F6FC"/>
                </a:solidFill>
                <a:latin typeface="Calibri" pitchFamily="34" charset="0"/>
                <a:ea typeface="Calibri" pitchFamily="34" charset="-122"/>
                <a:cs typeface="Calibri" pitchFamily="34" charset="-120"/>
              </a:rPr>
              <a:t>→  Includes SIEM, firewalls &amp; monitoring</a:t>
            </a:r>
            <a:endParaRPr lang="en-US" sz="1300" dirty="0"/>
          </a:p>
        </p:txBody>
      </p:sp>
      <p:sp>
        <p:nvSpPr>
          <p:cNvPr id="21" name="Text 17"/>
          <p:cNvSpPr/>
          <p:nvPr/>
        </p:nvSpPr>
        <p:spPr>
          <a:xfrm>
            <a:off x="4937760" y="3310128"/>
            <a:ext cx="3840480" cy="384048"/>
          </a:xfrm>
          <a:prstGeom prst="rect">
            <a:avLst/>
          </a:prstGeom>
          <a:noFill/>
          <a:ln/>
        </p:spPr>
        <p:txBody>
          <a:bodyPr wrap="square" lIns="0" tIns="0" rIns="0" bIns="0" rtlCol="0" anchor="ctr"/>
          <a:lstStyle/>
          <a:p>
            <a:pPr marL="0" indent="0">
              <a:buNone/>
            </a:pPr>
            <a:r>
              <a:rPr lang="en-US" sz="1300" dirty="0">
                <a:solidFill>
                  <a:srgbClr val="F0F6FC"/>
                </a:solidFill>
                <a:latin typeface="Calibri" pitchFamily="34" charset="0"/>
                <a:ea typeface="Calibri" pitchFamily="34" charset="-122"/>
                <a:cs typeface="Calibri" pitchFamily="34" charset="-120"/>
              </a:rPr>
              <a:t>→  Goal: minimize damage and downtime</a:t>
            </a:r>
            <a:endParaRPr lang="en-US" sz="1300" dirty="0"/>
          </a:p>
        </p:txBody>
      </p:sp>
      <p:sp>
        <p:nvSpPr>
          <p:cNvPr id="22" name="Shape 18"/>
          <p:cNvSpPr/>
          <p:nvPr/>
        </p:nvSpPr>
        <p:spPr>
          <a:xfrm>
            <a:off x="0" y="4617720"/>
            <a:ext cx="9144000" cy="525780"/>
          </a:xfrm>
          <a:prstGeom prst="rect">
            <a:avLst/>
          </a:prstGeom>
          <a:solidFill>
            <a:srgbClr val="0A0F16"/>
          </a:solidFill>
          <a:ln/>
        </p:spPr>
        <p:txBody>
          <a:bodyPr/>
          <a:lstStyle/>
          <a:p>
            <a:endParaRPr lang="en-IN"/>
          </a:p>
        </p:txBody>
      </p:sp>
      <p:sp>
        <p:nvSpPr>
          <p:cNvPr id="23" name="Shape 19"/>
          <p:cNvSpPr/>
          <p:nvPr/>
        </p:nvSpPr>
        <p:spPr>
          <a:xfrm>
            <a:off x="0" y="4617720"/>
            <a:ext cx="9144000" cy="36576"/>
          </a:xfrm>
          <a:prstGeom prst="rect">
            <a:avLst/>
          </a:prstGeom>
          <a:solidFill>
            <a:srgbClr val="58A6FF"/>
          </a:solidFill>
          <a:ln/>
        </p:spPr>
        <p:txBody>
          <a:bodyPr/>
          <a:lstStyle/>
          <a:p>
            <a:endParaRPr lang="en-IN"/>
          </a:p>
        </p:txBody>
      </p:sp>
      <p:sp>
        <p:nvSpPr>
          <p:cNvPr id="24" name="Text 20"/>
          <p:cNvSpPr/>
          <p:nvPr/>
        </p:nvSpPr>
        <p:spPr>
          <a:xfrm>
            <a:off x="182880" y="4654296"/>
            <a:ext cx="8778240" cy="457200"/>
          </a:xfrm>
          <a:prstGeom prst="rect">
            <a:avLst/>
          </a:prstGeom>
          <a:noFill/>
          <a:ln/>
        </p:spPr>
        <p:txBody>
          <a:bodyPr wrap="square" lIns="0" tIns="0" rIns="0" bIns="0" rtlCol="0" anchor="ctr"/>
          <a:lstStyle/>
          <a:p>
            <a:pPr marL="0" indent="0">
              <a:buNone/>
            </a:pPr>
            <a:r>
              <a:rPr lang="en-US" sz="1050" i="1" dirty="0">
                <a:solidFill>
                  <a:srgbClr val="8B949E"/>
                </a:solidFill>
                <a:latin typeface="Calibri" pitchFamily="34" charset="0"/>
                <a:ea typeface="Calibri" pitchFamily="34" charset="-122"/>
                <a:cs typeface="Calibri" pitchFamily="34" charset="-120"/>
              </a:rPr>
              <a:t>📋  Offensive Security (Red Team) proactively hunts for weaknesses by simulating attacker behavior. Defensive Security (Blue Team) builds barriers, monitors for threats, and responds when incidents occur. Neither is complete without the other.</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A38"/>
          </a:solidFill>
          <a:ln/>
        </p:spPr>
        <p:txBody>
          <a:bodyPr/>
          <a:lstStyle/>
          <a:p>
            <a:endParaRPr lang="en-IN"/>
          </a:p>
        </p:txBody>
      </p:sp>
      <p:pic>
        <p:nvPicPr>
          <p:cNvPr id="3" name="Image 0" descr="preencoded.png"/>
          <p:cNvPicPr>
            <a:picLocks noChangeAspect="1"/>
          </p:cNvPicPr>
          <p:nvPr/>
        </p:nvPicPr>
        <p:blipFill>
          <a:blip r:embed="rId3"/>
          <a:stretch>
            <a:fillRect/>
          </a:stretch>
        </p:blipFill>
        <p:spPr>
          <a:xfrm>
            <a:off x="182880" y="109728"/>
            <a:ext cx="685800" cy="685800"/>
          </a:xfrm>
          <a:prstGeom prst="rect">
            <a:avLst/>
          </a:prstGeom>
        </p:spPr>
      </p:pic>
      <p:sp>
        <p:nvSpPr>
          <p:cNvPr id="4" name="Text 1"/>
          <p:cNvSpPr/>
          <p:nvPr/>
        </p:nvSpPr>
        <p:spPr>
          <a:xfrm>
            <a:off x="1005840" y="45720"/>
            <a:ext cx="7772400" cy="548640"/>
          </a:xfrm>
          <a:prstGeom prst="rect">
            <a:avLst/>
          </a:prstGeom>
          <a:noFill/>
          <a:ln/>
        </p:spPr>
        <p:txBody>
          <a:bodyPr wrap="square" lIns="0" tIns="0" rIns="0" bIns="0" rtlCol="0" anchor="ctr"/>
          <a:lstStyle/>
          <a:p>
            <a:pPr marL="0" indent="0">
              <a:buNone/>
            </a:pPr>
            <a:r>
              <a:rPr lang="en-US" sz="2600" b="1" dirty="0">
                <a:solidFill>
                  <a:srgbClr val="E63946"/>
                </a:solidFill>
                <a:latin typeface="Arial Black" pitchFamily="34" charset="0"/>
                <a:ea typeface="Arial Black" pitchFamily="34" charset="-122"/>
                <a:cs typeface="Arial Black" pitchFamily="34" charset="-120"/>
              </a:rPr>
              <a:t>OFFENSIVE SECURITY</a:t>
            </a:r>
            <a:endParaRPr lang="en-US" sz="2600" dirty="0"/>
          </a:p>
        </p:txBody>
      </p:sp>
      <p:sp>
        <p:nvSpPr>
          <p:cNvPr id="5" name="Text 2"/>
          <p:cNvSpPr/>
          <p:nvPr/>
        </p:nvSpPr>
        <p:spPr>
          <a:xfrm>
            <a:off x="1005840" y="566928"/>
            <a:ext cx="7772400" cy="32004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Think like an attacker to stay one step ahead</a:t>
            </a:r>
            <a:endParaRPr lang="en-US" sz="1300" dirty="0"/>
          </a:p>
        </p:txBody>
      </p:sp>
      <p:sp>
        <p:nvSpPr>
          <p:cNvPr id="6" name="Shape 3"/>
          <p:cNvSpPr/>
          <p:nvPr/>
        </p:nvSpPr>
        <p:spPr>
          <a:xfrm>
            <a:off x="182880" y="1005840"/>
            <a:ext cx="2834640" cy="1645920"/>
          </a:xfrm>
          <a:prstGeom prst="rect">
            <a:avLst/>
          </a:prstGeom>
          <a:solidFill>
            <a:srgbClr val="161B22"/>
          </a:solidFill>
          <a:ln/>
        </p:spPr>
        <p:txBody>
          <a:bodyPr/>
          <a:lstStyle/>
          <a:p>
            <a:endParaRPr lang="en-IN"/>
          </a:p>
        </p:txBody>
      </p:sp>
      <p:sp>
        <p:nvSpPr>
          <p:cNvPr id="7" name="Shape 4"/>
          <p:cNvSpPr/>
          <p:nvPr/>
        </p:nvSpPr>
        <p:spPr>
          <a:xfrm>
            <a:off x="182880" y="1005840"/>
            <a:ext cx="2834640" cy="54864"/>
          </a:xfrm>
          <a:prstGeom prst="rect">
            <a:avLst/>
          </a:prstGeom>
          <a:solidFill>
            <a:srgbClr val="E63946"/>
          </a:solidFill>
          <a:ln/>
        </p:spPr>
        <p:txBody>
          <a:bodyPr/>
          <a:lstStyle/>
          <a:p>
            <a:endParaRPr lang="en-IN"/>
          </a:p>
        </p:txBody>
      </p:sp>
      <p:pic>
        <p:nvPicPr>
          <p:cNvPr id="8" name="Image 1" descr="preencoded.png"/>
          <p:cNvPicPr>
            <a:picLocks noChangeAspect="1"/>
          </p:cNvPicPr>
          <p:nvPr/>
        </p:nvPicPr>
        <p:blipFill>
          <a:blip r:embed="rId4"/>
          <a:stretch>
            <a:fillRect/>
          </a:stretch>
        </p:blipFill>
        <p:spPr>
          <a:xfrm>
            <a:off x="274320" y="1097280"/>
            <a:ext cx="411480" cy="411480"/>
          </a:xfrm>
          <a:prstGeom prst="rect">
            <a:avLst/>
          </a:prstGeom>
        </p:spPr>
      </p:pic>
      <p:sp>
        <p:nvSpPr>
          <p:cNvPr id="9" name="Text 5"/>
          <p:cNvSpPr/>
          <p:nvPr/>
        </p:nvSpPr>
        <p:spPr>
          <a:xfrm>
            <a:off x="749808" y="1097280"/>
            <a:ext cx="2194560" cy="411480"/>
          </a:xfrm>
          <a:prstGeom prst="rect">
            <a:avLst/>
          </a:prstGeom>
          <a:noFill/>
          <a:ln/>
        </p:spPr>
        <p:txBody>
          <a:bodyPr wrap="square" lIns="0" tIns="0" rIns="0" bIns="0" rtlCol="0" anchor="ctr"/>
          <a:lstStyle/>
          <a:p>
            <a:pPr marL="0" indent="0">
              <a:buNone/>
            </a:pPr>
            <a:r>
              <a:rPr lang="en-US" sz="1300" b="1" dirty="0">
                <a:solidFill>
                  <a:srgbClr val="E63946"/>
                </a:solidFill>
                <a:latin typeface="Arial Black" pitchFamily="34" charset="0"/>
                <a:ea typeface="Arial Black" pitchFamily="34" charset="-122"/>
                <a:cs typeface="Arial Black" pitchFamily="34" charset="-120"/>
              </a:rPr>
              <a:t>Reconnaissance</a:t>
            </a:r>
            <a:endParaRPr lang="en-US" sz="1300" dirty="0"/>
          </a:p>
        </p:txBody>
      </p:sp>
      <p:sp>
        <p:nvSpPr>
          <p:cNvPr id="10" name="Text 6"/>
          <p:cNvSpPr/>
          <p:nvPr/>
        </p:nvSpPr>
        <p:spPr>
          <a:xfrm>
            <a:off x="274320" y="1572768"/>
            <a:ext cx="2651760" cy="1005840"/>
          </a:xfrm>
          <a:prstGeom prst="rect">
            <a:avLst/>
          </a:prstGeom>
          <a:noFill/>
          <a:ln/>
        </p:spPr>
        <p:txBody>
          <a:bodyPr wrap="square" lIns="0" tIns="0" rIns="0" bIns="0" rtlCol="0" anchor="ctr"/>
          <a:lstStyle/>
          <a:p>
            <a:pPr marL="0" indent="0">
              <a:buNone/>
            </a:pPr>
            <a:r>
              <a:rPr lang="en-US" sz="1150" dirty="0">
                <a:solidFill>
                  <a:srgbClr val="F0F6FC"/>
                </a:solidFill>
                <a:latin typeface="Calibri" pitchFamily="34" charset="0"/>
                <a:ea typeface="Calibri" pitchFamily="34" charset="-122"/>
                <a:cs typeface="Calibri" pitchFamily="34" charset="-120"/>
              </a:rPr>
              <a:t>Gathering info about the target using OSINT, social engineering, and scanning.</a:t>
            </a:r>
            <a:endParaRPr lang="en-US" sz="1150" dirty="0"/>
          </a:p>
        </p:txBody>
      </p:sp>
      <p:sp>
        <p:nvSpPr>
          <p:cNvPr id="11" name="Shape 7"/>
          <p:cNvSpPr/>
          <p:nvPr/>
        </p:nvSpPr>
        <p:spPr>
          <a:xfrm>
            <a:off x="3172968" y="1005840"/>
            <a:ext cx="2834640" cy="1645920"/>
          </a:xfrm>
          <a:prstGeom prst="rect">
            <a:avLst/>
          </a:prstGeom>
          <a:solidFill>
            <a:srgbClr val="161B22"/>
          </a:solidFill>
          <a:ln/>
        </p:spPr>
        <p:txBody>
          <a:bodyPr/>
          <a:lstStyle/>
          <a:p>
            <a:endParaRPr lang="en-IN"/>
          </a:p>
        </p:txBody>
      </p:sp>
      <p:sp>
        <p:nvSpPr>
          <p:cNvPr id="12" name="Shape 8"/>
          <p:cNvSpPr/>
          <p:nvPr/>
        </p:nvSpPr>
        <p:spPr>
          <a:xfrm>
            <a:off x="3172968" y="1005840"/>
            <a:ext cx="2834640" cy="54864"/>
          </a:xfrm>
          <a:prstGeom prst="rect">
            <a:avLst/>
          </a:prstGeom>
          <a:solidFill>
            <a:srgbClr val="E63946"/>
          </a:solidFill>
          <a:ln/>
        </p:spPr>
        <p:txBody>
          <a:bodyPr/>
          <a:lstStyle/>
          <a:p>
            <a:endParaRPr lang="en-IN"/>
          </a:p>
        </p:txBody>
      </p:sp>
      <p:pic>
        <p:nvPicPr>
          <p:cNvPr id="13" name="Image 2" descr="preencoded.png"/>
          <p:cNvPicPr>
            <a:picLocks noChangeAspect="1"/>
          </p:cNvPicPr>
          <p:nvPr/>
        </p:nvPicPr>
        <p:blipFill>
          <a:blip r:embed="rId5"/>
          <a:stretch>
            <a:fillRect/>
          </a:stretch>
        </p:blipFill>
        <p:spPr>
          <a:xfrm>
            <a:off x="3264408" y="1097280"/>
            <a:ext cx="411480" cy="411480"/>
          </a:xfrm>
          <a:prstGeom prst="rect">
            <a:avLst/>
          </a:prstGeom>
        </p:spPr>
      </p:pic>
      <p:sp>
        <p:nvSpPr>
          <p:cNvPr id="14" name="Text 9"/>
          <p:cNvSpPr/>
          <p:nvPr/>
        </p:nvSpPr>
        <p:spPr>
          <a:xfrm>
            <a:off x="3739896" y="1097280"/>
            <a:ext cx="2194560" cy="411480"/>
          </a:xfrm>
          <a:prstGeom prst="rect">
            <a:avLst/>
          </a:prstGeom>
          <a:noFill/>
          <a:ln/>
        </p:spPr>
        <p:txBody>
          <a:bodyPr wrap="square" lIns="0" tIns="0" rIns="0" bIns="0" rtlCol="0" anchor="ctr"/>
          <a:lstStyle/>
          <a:p>
            <a:pPr marL="0" indent="0">
              <a:buNone/>
            </a:pPr>
            <a:r>
              <a:rPr lang="en-US" sz="1300" b="1" dirty="0">
                <a:solidFill>
                  <a:srgbClr val="E63946"/>
                </a:solidFill>
                <a:latin typeface="Arial Black" pitchFamily="34" charset="0"/>
                <a:ea typeface="Arial Black" pitchFamily="34" charset="-122"/>
                <a:cs typeface="Arial Black" pitchFamily="34" charset="-120"/>
              </a:rPr>
              <a:t>Exploitation</a:t>
            </a:r>
            <a:endParaRPr lang="en-US" sz="1300" dirty="0"/>
          </a:p>
        </p:txBody>
      </p:sp>
      <p:sp>
        <p:nvSpPr>
          <p:cNvPr id="15" name="Text 10"/>
          <p:cNvSpPr/>
          <p:nvPr/>
        </p:nvSpPr>
        <p:spPr>
          <a:xfrm>
            <a:off x="3264408" y="1572768"/>
            <a:ext cx="2651760" cy="1005840"/>
          </a:xfrm>
          <a:prstGeom prst="rect">
            <a:avLst/>
          </a:prstGeom>
          <a:noFill/>
          <a:ln/>
        </p:spPr>
        <p:txBody>
          <a:bodyPr wrap="square" lIns="0" tIns="0" rIns="0" bIns="0" rtlCol="0" anchor="ctr"/>
          <a:lstStyle/>
          <a:p>
            <a:pPr marL="0" indent="0">
              <a:buNone/>
            </a:pPr>
            <a:r>
              <a:rPr lang="en-US" sz="1150" dirty="0">
                <a:solidFill>
                  <a:srgbClr val="F0F6FC"/>
                </a:solidFill>
                <a:latin typeface="Calibri" pitchFamily="34" charset="0"/>
                <a:ea typeface="Calibri" pitchFamily="34" charset="-122"/>
                <a:cs typeface="Calibri" pitchFamily="34" charset="-120"/>
              </a:rPr>
              <a:t>Leveraging vulnerabilities to gain unauthorized access to systems or data.</a:t>
            </a:r>
            <a:endParaRPr lang="en-US" sz="1150" dirty="0"/>
          </a:p>
        </p:txBody>
      </p:sp>
      <p:sp>
        <p:nvSpPr>
          <p:cNvPr id="16" name="Shape 11"/>
          <p:cNvSpPr/>
          <p:nvPr/>
        </p:nvSpPr>
        <p:spPr>
          <a:xfrm>
            <a:off x="6163056" y="1005840"/>
            <a:ext cx="2834640" cy="1645920"/>
          </a:xfrm>
          <a:prstGeom prst="rect">
            <a:avLst/>
          </a:prstGeom>
          <a:solidFill>
            <a:srgbClr val="161B22"/>
          </a:solidFill>
          <a:ln/>
        </p:spPr>
        <p:txBody>
          <a:bodyPr/>
          <a:lstStyle/>
          <a:p>
            <a:endParaRPr lang="en-IN"/>
          </a:p>
        </p:txBody>
      </p:sp>
      <p:sp>
        <p:nvSpPr>
          <p:cNvPr id="17" name="Shape 12"/>
          <p:cNvSpPr/>
          <p:nvPr/>
        </p:nvSpPr>
        <p:spPr>
          <a:xfrm>
            <a:off x="6163056" y="1005840"/>
            <a:ext cx="2834640" cy="54864"/>
          </a:xfrm>
          <a:prstGeom prst="rect">
            <a:avLst/>
          </a:prstGeom>
          <a:solidFill>
            <a:srgbClr val="E63946"/>
          </a:solidFill>
          <a:ln/>
        </p:spPr>
        <p:txBody>
          <a:bodyPr/>
          <a:lstStyle/>
          <a:p>
            <a:endParaRPr lang="en-IN"/>
          </a:p>
        </p:txBody>
      </p:sp>
      <p:pic>
        <p:nvPicPr>
          <p:cNvPr id="18" name="Image 3" descr="preencoded.png"/>
          <p:cNvPicPr>
            <a:picLocks noChangeAspect="1"/>
          </p:cNvPicPr>
          <p:nvPr/>
        </p:nvPicPr>
        <p:blipFill>
          <a:blip r:embed="rId6"/>
          <a:stretch>
            <a:fillRect/>
          </a:stretch>
        </p:blipFill>
        <p:spPr>
          <a:xfrm>
            <a:off x="6254496" y="1097280"/>
            <a:ext cx="411480" cy="411480"/>
          </a:xfrm>
          <a:prstGeom prst="rect">
            <a:avLst/>
          </a:prstGeom>
        </p:spPr>
      </p:pic>
      <p:sp>
        <p:nvSpPr>
          <p:cNvPr id="19" name="Text 13"/>
          <p:cNvSpPr/>
          <p:nvPr/>
        </p:nvSpPr>
        <p:spPr>
          <a:xfrm>
            <a:off x="6729984" y="1097280"/>
            <a:ext cx="2194560" cy="411480"/>
          </a:xfrm>
          <a:prstGeom prst="rect">
            <a:avLst/>
          </a:prstGeom>
          <a:noFill/>
          <a:ln/>
        </p:spPr>
        <p:txBody>
          <a:bodyPr wrap="square" lIns="0" tIns="0" rIns="0" bIns="0" rtlCol="0" anchor="ctr"/>
          <a:lstStyle/>
          <a:p>
            <a:pPr marL="0" indent="0">
              <a:buNone/>
            </a:pPr>
            <a:r>
              <a:rPr lang="en-US" sz="1300" b="1" dirty="0">
                <a:solidFill>
                  <a:srgbClr val="E63946"/>
                </a:solidFill>
                <a:latin typeface="Arial Black" pitchFamily="34" charset="0"/>
                <a:ea typeface="Arial Black" pitchFamily="34" charset="-122"/>
                <a:cs typeface="Arial Black" pitchFamily="34" charset="-120"/>
              </a:rPr>
              <a:t>Social Engineering</a:t>
            </a:r>
            <a:endParaRPr lang="en-US" sz="1300" dirty="0"/>
          </a:p>
        </p:txBody>
      </p:sp>
      <p:sp>
        <p:nvSpPr>
          <p:cNvPr id="20" name="Text 14"/>
          <p:cNvSpPr/>
          <p:nvPr/>
        </p:nvSpPr>
        <p:spPr>
          <a:xfrm>
            <a:off x="6254496" y="1572768"/>
            <a:ext cx="2651760" cy="1005840"/>
          </a:xfrm>
          <a:prstGeom prst="rect">
            <a:avLst/>
          </a:prstGeom>
          <a:noFill/>
          <a:ln/>
        </p:spPr>
        <p:txBody>
          <a:bodyPr wrap="square" lIns="0" tIns="0" rIns="0" bIns="0" rtlCol="0" anchor="ctr"/>
          <a:lstStyle/>
          <a:p>
            <a:pPr marL="0" indent="0">
              <a:buNone/>
            </a:pPr>
            <a:r>
              <a:rPr lang="en-US" sz="1150" dirty="0">
                <a:solidFill>
                  <a:srgbClr val="F0F6FC"/>
                </a:solidFill>
                <a:latin typeface="Calibri" pitchFamily="34" charset="0"/>
                <a:ea typeface="Calibri" pitchFamily="34" charset="-122"/>
                <a:cs typeface="Calibri" pitchFamily="34" charset="-120"/>
              </a:rPr>
              <a:t>Manipulating people to divulge info or perform actions that bypass security.</a:t>
            </a:r>
            <a:endParaRPr lang="en-US" sz="1150" dirty="0"/>
          </a:p>
        </p:txBody>
      </p:sp>
      <p:sp>
        <p:nvSpPr>
          <p:cNvPr id="21" name="Shape 15"/>
          <p:cNvSpPr/>
          <p:nvPr/>
        </p:nvSpPr>
        <p:spPr>
          <a:xfrm>
            <a:off x="182880" y="2743200"/>
            <a:ext cx="2834640" cy="1645920"/>
          </a:xfrm>
          <a:prstGeom prst="rect">
            <a:avLst/>
          </a:prstGeom>
          <a:solidFill>
            <a:srgbClr val="161B22"/>
          </a:solidFill>
          <a:ln/>
        </p:spPr>
        <p:txBody>
          <a:bodyPr/>
          <a:lstStyle/>
          <a:p>
            <a:endParaRPr lang="en-IN"/>
          </a:p>
        </p:txBody>
      </p:sp>
      <p:sp>
        <p:nvSpPr>
          <p:cNvPr id="22" name="Shape 16"/>
          <p:cNvSpPr/>
          <p:nvPr/>
        </p:nvSpPr>
        <p:spPr>
          <a:xfrm>
            <a:off x="182880" y="2743200"/>
            <a:ext cx="2834640" cy="54864"/>
          </a:xfrm>
          <a:prstGeom prst="rect">
            <a:avLst/>
          </a:prstGeom>
          <a:solidFill>
            <a:srgbClr val="E63946"/>
          </a:solidFill>
          <a:ln/>
        </p:spPr>
        <p:txBody>
          <a:bodyPr/>
          <a:lstStyle/>
          <a:p>
            <a:endParaRPr lang="en-IN"/>
          </a:p>
        </p:txBody>
      </p:sp>
      <p:pic>
        <p:nvPicPr>
          <p:cNvPr id="23" name="Image 4" descr="preencoded.png"/>
          <p:cNvPicPr>
            <a:picLocks noChangeAspect="1"/>
          </p:cNvPicPr>
          <p:nvPr/>
        </p:nvPicPr>
        <p:blipFill>
          <a:blip r:embed="rId7"/>
          <a:stretch>
            <a:fillRect/>
          </a:stretch>
        </p:blipFill>
        <p:spPr>
          <a:xfrm>
            <a:off x="274320" y="2834640"/>
            <a:ext cx="411480" cy="411480"/>
          </a:xfrm>
          <a:prstGeom prst="rect">
            <a:avLst/>
          </a:prstGeom>
        </p:spPr>
      </p:pic>
      <p:sp>
        <p:nvSpPr>
          <p:cNvPr id="24" name="Text 17"/>
          <p:cNvSpPr/>
          <p:nvPr/>
        </p:nvSpPr>
        <p:spPr>
          <a:xfrm>
            <a:off x="749808" y="2834640"/>
            <a:ext cx="2194560" cy="411480"/>
          </a:xfrm>
          <a:prstGeom prst="rect">
            <a:avLst/>
          </a:prstGeom>
          <a:noFill/>
          <a:ln/>
        </p:spPr>
        <p:txBody>
          <a:bodyPr wrap="square" lIns="0" tIns="0" rIns="0" bIns="0" rtlCol="0" anchor="ctr"/>
          <a:lstStyle/>
          <a:p>
            <a:pPr marL="0" indent="0">
              <a:buNone/>
            </a:pPr>
            <a:r>
              <a:rPr lang="en-US" sz="1300" b="1" dirty="0">
                <a:solidFill>
                  <a:srgbClr val="E63946"/>
                </a:solidFill>
                <a:latin typeface="Arial Black" pitchFamily="34" charset="0"/>
                <a:ea typeface="Arial Black" pitchFamily="34" charset="-122"/>
                <a:cs typeface="Arial Black" pitchFamily="34" charset="-120"/>
              </a:rPr>
              <a:t>Penetration Testing</a:t>
            </a:r>
            <a:endParaRPr lang="en-US" sz="1300" dirty="0"/>
          </a:p>
        </p:txBody>
      </p:sp>
      <p:sp>
        <p:nvSpPr>
          <p:cNvPr id="25" name="Text 18"/>
          <p:cNvSpPr/>
          <p:nvPr/>
        </p:nvSpPr>
        <p:spPr>
          <a:xfrm>
            <a:off x="274320" y="3310128"/>
            <a:ext cx="2651760" cy="1005840"/>
          </a:xfrm>
          <a:prstGeom prst="rect">
            <a:avLst/>
          </a:prstGeom>
          <a:noFill/>
          <a:ln/>
        </p:spPr>
        <p:txBody>
          <a:bodyPr wrap="square" lIns="0" tIns="0" rIns="0" bIns="0" rtlCol="0" anchor="ctr"/>
          <a:lstStyle/>
          <a:p>
            <a:pPr marL="0" indent="0">
              <a:buNone/>
            </a:pPr>
            <a:r>
              <a:rPr lang="en-US" sz="1150" dirty="0">
                <a:solidFill>
                  <a:srgbClr val="F0F6FC"/>
                </a:solidFill>
                <a:latin typeface="Calibri" pitchFamily="34" charset="0"/>
                <a:ea typeface="Calibri" pitchFamily="34" charset="-122"/>
                <a:cs typeface="Calibri" pitchFamily="34" charset="-120"/>
              </a:rPr>
              <a:t>Authorized simulated attacks to find and prove exploitable vulnerabilities.</a:t>
            </a:r>
            <a:endParaRPr lang="en-US" sz="1150" dirty="0"/>
          </a:p>
        </p:txBody>
      </p:sp>
      <p:sp>
        <p:nvSpPr>
          <p:cNvPr id="26" name="Shape 19"/>
          <p:cNvSpPr/>
          <p:nvPr/>
        </p:nvSpPr>
        <p:spPr>
          <a:xfrm>
            <a:off x="3172968" y="2743200"/>
            <a:ext cx="2834640" cy="1645920"/>
          </a:xfrm>
          <a:prstGeom prst="rect">
            <a:avLst/>
          </a:prstGeom>
          <a:solidFill>
            <a:srgbClr val="161B22"/>
          </a:solidFill>
          <a:ln/>
        </p:spPr>
        <p:txBody>
          <a:bodyPr/>
          <a:lstStyle/>
          <a:p>
            <a:endParaRPr lang="en-IN"/>
          </a:p>
        </p:txBody>
      </p:sp>
      <p:sp>
        <p:nvSpPr>
          <p:cNvPr id="27" name="Shape 20"/>
          <p:cNvSpPr/>
          <p:nvPr/>
        </p:nvSpPr>
        <p:spPr>
          <a:xfrm>
            <a:off x="3172968" y="2743200"/>
            <a:ext cx="2834640" cy="54864"/>
          </a:xfrm>
          <a:prstGeom prst="rect">
            <a:avLst/>
          </a:prstGeom>
          <a:solidFill>
            <a:srgbClr val="E63946"/>
          </a:solidFill>
          <a:ln/>
        </p:spPr>
        <p:txBody>
          <a:bodyPr/>
          <a:lstStyle/>
          <a:p>
            <a:endParaRPr lang="en-IN"/>
          </a:p>
        </p:txBody>
      </p:sp>
      <p:pic>
        <p:nvPicPr>
          <p:cNvPr id="28" name="Image 5" descr="preencoded.png"/>
          <p:cNvPicPr>
            <a:picLocks noChangeAspect="1"/>
          </p:cNvPicPr>
          <p:nvPr/>
        </p:nvPicPr>
        <p:blipFill>
          <a:blip r:embed="rId8"/>
          <a:stretch>
            <a:fillRect/>
          </a:stretch>
        </p:blipFill>
        <p:spPr>
          <a:xfrm>
            <a:off x="3264408" y="2834640"/>
            <a:ext cx="411480" cy="411480"/>
          </a:xfrm>
          <a:prstGeom prst="rect">
            <a:avLst/>
          </a:prstGeom>
        </p:spPr>
      </p:pic>
      <p:sp>
        <p:nvSpPr>
          <p:cNvPr id="29" name="Text 21"/>
          <p:cNvSpPr/>
          <p:nvPr/>
        </p:nvSpPr>
        <p:spPr>
          <a:xfrm>
            <a:off x="3739896" y="2834640"/>
            <a:ext cx="2194560" cy="411480"/>
          </a:xfrm>
          <a:prstGeom prst="rect">
            <a:avLst/>
          </a:prstGeom>
          <a:noFill/>
          <a:ln/>
        </p:spPr>
        <p:txBody>
          <a:bodyPr wrap="square" lIns="0" tIns="0" rIns="0" bIns="0" rtlCol="0" anchor="ctr"/>
          <a:lstStyle/>
          <a:p>
            <a:pPr marL="0" indent="0">
              <a:buNone/>
            </a:pPr>
            <a:r>
              <a:rPr lang="en-US" sz="1300" b="1" dirty="0">
                <a:solidFill>
                  <a:srgbClr val="E63946"/>
                </a:solidFill>
                <a:latin typeface="Arial Black" pitchFamily="34" charset="0"/>
                <a:ea typeface="Arial Black" pitchFamily="34" charset="-122"/>
                <a:cs typeface="Arial Black" pitchFamily="34" charset="-120"/>
              </a:rPr>
              <a:t>Red Team Ops</a:t>
            </a:r>
            <a:endParaRPr lang="en-US" sz="1300" dirty="0"/>
          </a:p>
        </p:txBody>
      </p:sp>
      <p:sp>
        <p:nvSpPr>
          <p:cNvPr id="30" name="Text 22"/>
          <p:cNvSpPr/>
          <p:nvPr/>
        </p:nvSpPr>
        <p:spPr>
          <a:xfrm>
            <a:off x="3264408" y="3310128"/>
            <a:ext cx="2651760" cy="1005840"/>
          </a:xfrm>
          <a:prstGeom prst="rect">
            <a:avLst/>
          </a:prstGeom>
          <a:noFill/>
          <a:ln/>
        </p:spPr>
        <p:txBody>
          <a:bodyPr wrap="square" lIns="0" tIns="0" rIns="0" bIns="0" rtlCol="0" anchor="ctr"/>
          <a:lstStyle/>
          <a:p>
            <a:pPr marL="0" indent="0">
              <a:buNone/>
            </a:pPr>
            <a:r>
              <a:rPr lang="en-US" sz="1150" dirty="0">
                <a:solidFill>
                  <a:srgbClr val="F0F6FC"/>
                </a:solidFill>
                <a:latin typeface="Calibri" pitchFamily="34" charset="0"/>
                <a:ea typeface="Calibri" pitchFamily="34" charset="-122"/>
                <a:cs typeface="Calibri" pitchFamily="34" charset="-120"/>
              </a:rPr>
              <a:t>Full-scope adversarial simulation to test an org's detection capabilities.</a:t>
            </a:r>
            <a:endParaRPr lang="en-US" sz="1150" dirty="0"/>
          </a:p>
        </p:txBody>
      </p:sp>
      <p:sp>
        <p:nvSpPr>
          <p:cNvPr id="31" name="Shape 23"/>
          <p:cNvSpPr/>
          <p:nvPr/>
        </p:nvSpPr>
        <p:spPr>
          <a:xfrm>
            <a:off x="6163056" y="2743200"/>
            <a:ext cx="2834640" cy="1645920"/>
          </a:xfrm>
          <a:prstGeom prst="rect">
            <a:avLst/>
          </a:prstGeom>
          <a:solidFill>
            <a:srgbClr val="161B22"/>
          </a:solidFill>
          <a:ln/>
        </p:spPr>
        <p:txBody>
          <a:bodyPr/>
          <a:lstStyle/>
          <a:p>
            <a:endParaRPr lang="en-IN"/>
          </a:p>
        </p:txBody>
      </p:sp>
      <p:sp>
        <p:nvSpPr>
          <p:cNvPr id="32" name="Shape 24"/>
          <p:cNvSpPr/>
          <p:nvPr/>
        </p:nvSpPr>
        <p:spPr>
          <a:xfrm>
            <a:off x="6163056" y="2743200"/>
            <a:ext cx="2834640" cy="54864"/>
          </a:xfrm>
          <a:prstGeom prst="rect">
            <a:avLst/>
          </a:prstGeom>
          <a:solidFill>
            <a:srgbClr val="E63946"/>
          </a:solidFill>
          <a:ln/>
        </p:spPr>
        <p:txBody>
          <a:bodyPr/>
          <a:lstStyle/>
          <a:p>
            <a:endParaRPr lang="en-IN"/>
          </a:p>
        </p:txBody>
      </p:sp>
      <p:pic>
        <p:nvPicPr>
          <p:cNvPr id="33" name="Image 6" descr="preencoded.png"/>
          <p:cNvPicPr>
            <a:picLocks noChangeAspect="1"/>
          </p:cNvPicPr>
          <p:nvPr/>
        </p:nvPicPr>
        <p:blipFill>
          <a:blip r:embed="rId3"/>
          <a:stretch>
            <a:fillRect/>
          </a:stretch>
        </p:blipFill>
        <p:spPr>
          <a:xfrm>
            <a:off x="6254496" y="2834640"/>
            <a:ext cx="411480" cy="411480"/>
          </a:xfrm>
          <a:prstGeom prst="rect">
            <a:avLst/>
          </a:prstGeom>
        </p:spPr>
      </p:pic>
      <p:sp>
        <p:nvSpPr>
          <p:cNvPr id="34" name="Text 25"/>
          <p:cNvSpPr/>
          <p:nvPr/>
        </p:nvSpPr>
        <p:spPr>
          <a:xfrm>
            <a:off x="6729984" y="2834640"/>
            <a:ext cx="2194560" cy="411480"/>
          </a:xfrm>
          <a:prstGeom prst="rect">
            <a:avLst/>
          </a:prstGeom>
          <a:noFill/>
          <a:ln/>
        </p:spPr>
        <p:txBody>
          <a:bodyPr wrap="square" lIns="0" tIns="0" rIns="0" bIns="0" rtlCol="0" anchor="ctr"/>
          <a:lstStyle/>
          <a:p>
            <a:pPr marL="0" indent="0">
              <a:buNone/>
            </a:pPr>
            <a:r>
              <a:rPr lang="en-US" sz="1300" b="1" dirty="0">
                <a:solidFill>
                  <a:srgbClr val="E63946"/>
                </a:solidFill>
                <a:latin typeface="Arial Black" pitchFamily="34" charset="0"/>
                <a:ea typeface="Arial Black" pitchFamily="34" charset="-122"/>
                <a:cs typeface="Arial Black" pitchFamily="34" charset="-120"/>
              </a:rPr>
              <a:t>Malware Analysis</a:t>
            </a:r>
            <a:endParaRPr lang="en-US" sz="1300" dirty="0"/>
          </a:p>
        </p:txBody>
      </p:sp>
      <p:sp>
        <p:nvSpPr>
          <p:cNvPr id="35" name="Text 26"/>
          <p:cNvSpPr/>
          <p:nvPr/>
        </p:nvSpPr>
        <p:spPr>
          <a:xfrm>
            <a:off x="6254496" y="3310128"/>
            <a:ext cx="2651760" cy="1005840"/>
          </a:xfrm>
          <a:prstGeom prst="rect">
            <a:avLst/>
          </a:prstGeom>
          <a:noFill/>
          <a:ln/>
        </p:spPr>
        <p:txBody>
          <a:bodyPr wrap="square" lIns="0" tIns="0" rIns="0" bIns="0" rtlCol="0" anchor="ctr"/>
          <a:lstStyle/>
          <a:p>
            <a:pPr marL="0" indent="0">
              <a:buNone/>
            </a:pPr>
            <a:r>
              <a:rPr lang="en-US" sz="1150" dirty="0">
                <a:solidFill>
                  <a:srgbClr val="F0F6FC"/>
                </a:solidFill>
                <a:latin typeface="Calibri" pitchFamily="34" charset="0"/>
                <a:ea typeface="Calibri" pitchFamily="34" charset="-122"/>
                <a:cs typeface="Calibri" pitchFamily="34" charset="-120"/>
              </a:rPr>
              <a:t>Studying malicious code to understand behaviors and create countermeasures.</a:t>
            </a:r>
            <a:endParaRPr lang="en-US" sz="1150" dirty="0"/>
          </a:p>
        </p:txBody>
      </p:sp>
      <p:sp>
        <p:nvSpPr>
          <p:cNvPr id="36" name="Shape 27"/>
          <p:cNvSpPr/>
          <p:nvPr/>
        </p:nvSpPr>
        <p:spPr>
          <a:xfrm>
            <a:off x="0" y="4617720"/>
            <a:ext cx="9144000" cy="525780"/>
          </a:xfrm>
          <a:prstGeom prst="rect">
            <a:avLst/>
          </a:prstGeom>
          <a:solidFill>
            <a:srgbClr val="0A0F16"/>
          </a:solidFill>
          <a:ln/>
        </p:spPr>
        <p:txBody>
          <a:bodyPr/>
          <a:lstStyle/>
          <a:p>
            <a:endParaRPr lang="en-IN"/>
          </a:p>
        </p:txBody>
      </p:sp>
      <p:sp>
        <p:nvSpPr>
          <p:cNvPr id="37" name="Shape 28"/>
          <p:cNvSpPr/>
          <p:nvPr/>
        </p:nvSpPr>
        <p:spPr>
          <a:xfrm>
            <a:off x="0" y="4617720"/>
            <a:ext cx="9144000" cy="36576"/>
          </a:xfrm>
          <a:prstGeom prst="rect">
            <a:avLst/>
          </a:prstGeom>
          <a:solidFill>
            <a:srgbClr val="E63946"/>
          </a:solidFill>
          <a:ln/>
        </p:spPr>
        <p:txBody>
          <a:bodyPr/>
          <a:lstStyle/>
          <a:p>
            <a:endParaRPr lang="en-IN"/>
          </a:p>
        </p:txBody>
      </p:sp>
      <p:sp>
        <p:nvSpPr>
          <p:cNvPr id="38" name="Text 29"/>
          <p:cNvSpPr/>
          <p:nvPr/>
        </p:nvSpPr>
        <p:spPr>
          <a:xfrm>
            <a:off x="182880" y="4654296"/>
            <a:ext cx="8778240" cy="457200"/>
          </a:xfrm>
          <a:prstGeom prst="rect">
            <a:avLst/>
          </a:prstGeom>
          <a:noFill/>
          <a:ln/>
        </p:spPr>
        <p:txBody>
          <a:bodyPr wrap="square" lIns="0" tIns="0" rIns="0" bIns="0" rtlCol="0" anchor="ctr"/>
          <a:lstStyle/>
          <a:p>
            <a:pPr marL="0" indent="0">
              <a:buNone/>
            </a:pPr>
            <a:r>
              <a:rPr lang="en-US" sz="1050" i="1" dirty="0">
                <a:solidFill>
                  <a:srgbClr val="8B949E"/>
                </a:solidFill>
                <a:latin typeface="Calibri" pitchFamily="34" charset="0"/>
                <a:ea typeface="Calibri" pitchFamily="34" charset="-122"/>
                <a:cs typeface="Calibri" pitchFamily="34" charset="-120"/>
              </a:rPr>
              <a:t>📋  This slide covers the six core disciplines of Offensive Security. From initial reconnaissance to hands-on exploitation and adversarial simulation, these techniques mirror how real attackers operate — so defenders can prepare.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A38"/>
          </a:solidFill>
          <a:ln/>
        </p:spPr>
        <p:txBody>
          <a:bodyPr/>
          <a:lstStyle/>
          <a:p>
            <a:endParaRPr lang="en-IN"/>
          </a:p>
        </p:txBody>
      </p:sp>
      <p:pic>
        <p:nvPicPr>
          <p:cNvPr id="3" name="Image 0" descr="preencoded.png"/>
          <p:cNvPicPr>
            <a:picLocks noChangeAspect="1"/>
          </p:cNvPicPr>
          <p:nvPr/>
        </p:nvPicPr>
        <p:blipFill>
          <a:blip r:embed="rId3"/>
          <a:stretch>
            <a:fillRect/>
          </a:stretch>
        </p:blipFill>
        <p:spPr>
          <a:xfrm>
            <a:off x="182880" y="109728"/>
            <a:ext cx="685800" cy="685800"/>
          </a:xfrm>
          <a:prstGeom prst="rect">
            <a:avLst/>
          </a:prstGeom>
        </p:spPr>
      </p:pic>
      <p:sp>
        <p:nvSpPr>
          <p:cNvPr id="4" name="Text 1"/>
          <p:cNvSpPr/>
          <p:nvPr/>
        </p:nvSpPr>
        <p:spPr>
          <a:xfrm>
            <a:off x="1005840" y="45720"/>
            <a:ext cx="7772400" cy="548640"/>
          </a:xfrm>
          <a:prstGeom prst="rect">
            <a:avLst/>
          </a:prstGeom>
          <a:noFill/>
          <a:ln/>
        </p:spPr>
        <p:txBody>
          <a:bodyPr wrap="square" lIns="0" tIns="0" rIns="0" bIns="0" rtlCol="0" anchor="ctr"/>
          <a:lstStyle/>
          <a:p>
            <a:pPr marL="0" indent="0">
              <a:buNone/>
            </a:pPr>
            <a:r>
              <a:rPr lang="en-US" sz="2600" b="1" dirty="0">
                <a:solidFill>
                  <a:srgbClr val="06D6A0"/>
                </a:solidFill>
                <a:latin typeface="Arial Black" pitchFamily="34" charset="0"/>
                <a:ea typeface="Arial Black" pitchFamily="34" charset="-122"/>
                <a:cs typeface="Arial Black" pitchFamily="34" charset="-120"/>
              </a:rPr>
              <a:t>DEFENSIVE SECURITY</a:t>
            </a:r>
            <a:endParaRPr lang="en-US" sz="2600" dirty="0"/>
          </a:p>
        </p:txBody>
      </p:sp>
      <p:sp>
        <p:nvSpPr>
          <p:cNvPr id="5" name="Text 2"/>
          <p:cNvSpPr/>
          <p:nvPr/>
        </p:nvSpPr>
        <p:spPr>
          <a:xfrm>
            <a:off x="1005840" y="566928"/>
            <a:ext cx="7772400" cy="32004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Build walls. Watch the perimeter. Respond with precision.</a:t>
            </a:r>
            <a:endParaRPr lang="en-US" sz="1300" dirty="0"/>
          </a:p>
        </p:txBody>
      </p:sp>
      <p:sp>
        <p:nvSpPr>
          <p:cNvPr id="6" name="Shape 3"/>
          <p:cNvSpPr/>
          <p:nvPr/>
        </p:nvSpPr>
        <p:spPr>
          <a:xfrm>
            <a:off x="137160" y="1005840"/>
            <a:ext cx="2057400" cy="3493008"/>
          </a:xfrm>
          <a:prstGeom prst="rect">
            <a:avLst/>
          </a:prstGeom>
          <a:solidFill>
            <a:srgbClr val="161B22"/>
          </a:solidFill>
          <a:ln/>
        </p:spPr>
        <p:txBody>
          <a:bodyPr/>
          <a:lstStyle/>
          <a:p>
            <a:endParaRPr lang="en-IN"/>
          </a:p>
        </p:txBody>
      </p:sp>
      <p:sp>
        <p:nvSpPr>
          <p:cNvPr id="7" name="Shape 4"/>
          <p:cNvSpPr/>
          <p:nvPr/>
        </p:nvSpPr>
        <p:spPr>
          <a:xfrm>
            <a:off x="137160" y="1005840"/>
            <a:ext cx="2057400" cy="64008"/>
          </a:xfrm>
          <a:prstGeom prst="rect">
            <a:avLst/>
          </a:prstGeom>
          <a:solidFill>
            <a:srgbClr val="06D6A0"/>
          </a:solidFill>
          <a:ln/>
        </p:spPr>
        <p:txBody>
          <a:bodyPr/>
          <a:lstStyle/>
          <a:p>
            <a:endParaRPr lang="en-IN"/>
          </a:p>
        </p:txBody>
      </p:sp>
      <p:sp>
        <p:nvSpPr>
          <p:cNvPr id="8" name="Shape 5"/>
          <p:cNvSpPr/>
          <p:nvPr/>
        </p:nvSpPr>
        <p:spPr>
          <a:xfrm>
            <a:off x="795528" y="1170432"/>
            <a:ext cx="731520" cy="731520"/>
          </a:xfrm>
          <a:prstGeom prst="ellipse">
            <a:avLst/>
          </a:prstGeom>
          <a:solidFill>
            <a:srgbClr val="0A2A22"/>
          </a:solidFill>
          <a:ln/>
        </p:spPr>
        <p:txBody>
          <a:bodyPr/>
          <a:lstStyle/>
          <a:p>
            <a:endParaRPr lang="en-IN"/>
          </a:p>
        </p:txBody>
      </p:sp>
      <p:pic>
        <p:nvPicPr>
          <p:cNvPr id="9" name="Image 1" descr="preencoded.png"/>
          <p:cNvPicPr>
            <a:picLocks noChangeAspect="1"/>
          </p:cNvPicPr>
          <p:nvPr/>
        </p:nvPicPr>
        <p:blipFill>
          <a:blip r:embed="rId4"/>
          <a:stretch>
            <a:fillRect/>
          </a:stretch>
        </p:blipFill>
        <p:spPr>
          <a:xfrm>
            <a:off x="813816" y="1197864"/>
            <a:ext cx="512064" cy="512064"/>
          </a:xfrm>
          <a:prstGeom prst="rect">
            <a:avLst/>
          </a:prstGeom>
        </p:spPr>
      </p:pic>
      <p:sp>
        <p:nvSpPr>
          <p:cNvPr id="10" name="Text 6"/>
          <p:cNvSpPr/>
          <p:nvPr/>
        </p:nvSpPr>
        <p:spPr>
          <a:xfrm>
            <a:off x="228600" y="1993392"/>
            <a:ext cx="1874520" cy="438912"/>
          </a:xfrm>
          <a:prstGeom prst="rect">
            <a:avLst/>
          </a:prstGeom>
          <a:noFill/>
          <a:ln/>
        </p:spPr>
        <p:txBody>
          <a:bodyPr wrap="square" lIns="0" tIns="0" rIns="0" bIns="0" rtlCol="0" anchor="ctr"/>
          <a:lstStyle/>
          <a:p>
            <a:pPr marL="0" indent="0" algn="ctr">
              <a:buNone/>
            </a:pPr>
            <a:r>
              <a:rPr lang="en-US" sz="1300" b="1" dirty="0">
                <a:solidFill>
                  <a:srgbClr val="06D6A0"/>
                </a:solidFill>
                <a:latin typeface="Arial Black" pitchFamily="34" charset="0"/>
                <a:ea typeface="Arial Black" pitchFamily="34" charset="-122"/>
                <a:cs typeface="Arial Black" pitchFamily="34" charset="-120"/>
              </a:rPr>
              <a:t>PREVENTION</a:t>
            </a:r>
            <a:endParaRPr lang="en-US" sz="1300" dirty="0"/>
          </a:p>
        </p:txBody>
      </p:sp>
      <p:sp>
        <p:nvSpPr>
          <p:cNvPr id="11" name="Text 7"/>
          <p:cNvSpPr/>
          <p:nvPr/>
        </p:nvSpPr>
        <p:spPr>
          <a:xfrm>
            <a:off x="228600" y="2496312"/>
            <a:ext cx="1874520" cy="1920240"/>
          </a:xfrm>
          <a:prstGeom prst="rect">
            <a:avLst/>
          </a:prstGeom>
          <a:noFill/>
          <a:ln/>
        </p:spPr>
        <p:txBody>
          <a:bodyPr wrap="square" lIns="0" tIns="0" rIns="0" bIns="0" rtlCol="0" anchor="ctr"/>
          <a:lstStyle/>
          <a:p>
            <a:pPr marL="0" indent="0">
              <a:buNone/>
            </a:pPr>
            <a:r>
              <a:rPr lang="en-US" sz="1150" dirty="0">
                <a:solidFill>
                  <a:srgbClr val="F0F6FC"/>
                </a:solidFill>
                <a:latin typeface="Calibri" pitchFamily="34" charset="0"/>
                <a:ea typeface="Calibri" pitchFamily="34" charset="-122"/>
                <a:cs typeface="Calibri" pitchFamily="34" charset="-120"/>
              </a:rPr>
              <a:t>Firewalls, access controls, encryption, and patching to block threats before entry.</a:t>
            </a:r>
            <a:endParaRPr lang="en-US" sz="1150" dirty="0"/>
          </a:p>
        </p:txBody>
      </p:sp>
      <p:sp>
        <p:nvSpPr>
          <p:cNvPr id="12" name="Shape 8"/>
          <p:cNvSpPr/>
          <p:nvPr/>
        </p:nvSpPr>
        <p:spPr>
          <a:xfrm>
            <a:off x="2359152" y="1005840"/>
            <a:ext cx="2057400" cy="3493008"/>
          </a:xfrm>
          <a:prstGeom prst="rect">
            <a:avLst/>
          </a:prstGeom>
          <a:solidFill>
            <a:srgbClr val="161B22"/>
          </a:solidFill>
          <a:ln/>
        </p:spPr>
        <p:txBody>
          <a:bodyPr/>
          <a:lstStyle/>
          <a:p>
            <a:endParaRPr lang="en-IN"/>
          </a:p>
        </p:txBody>
      </p:sp>
      <p:sp>
        <p:nvSpPr>
          <p:cNvPr id="13" name="Shape 9"/>
          <p:cNvSpPr/>
          <p:nvPr/>
        </p:nvSpPr>
        <p:spPr>
          <a:xfrm>
            <a:off x="2359152" y="1005840"/>
            <a:ext cx="2057400" cy="64008"/>
          </a:xfrm>
          <a:prstGeom prst="rect">
            <a:avLst/>
          </a:prstGeom>
          <a:solidFill>
            <a:srgbClr val="06D6A0"/>
          </a:solidFill>
          <a:ln/>
        </p:spPr>
        <p:txBody>
          <a:bodyPr/>
          <a:lstStyle/>
          <a:p>
            <a:endParaRPr lang="en-IN"/>
          </a:p>
        </p:txBody>
      </p:sp>
      <p:sp>
        <p:nvSpPr>
          <p:cNvPr id="14" name="Shape 10"/>
          <p:cNvSpPr/>
          <p:nvPr/>
        </p:nvSpPr>
        <p:spPr>
          <a:xfrm>
            <a:off x="3017520" y="1170432"/>
            <a:ext cx="731520" cy="731520"/>
          </a:xfrm>
          <a:prstGeom prst="ellipse">
            <a:avLst/>
          </a:prstGeom>
          <a:solidFill>
            <a:srgbClr val="0A2A22"/>
          </a:solidFill>
          <a:ln/>
        </p:spPr>
        <p:txBody>
          <a:bodyPr/>
          <a:lstStyle/>
          <a:p>
            <a:endParaRPr lang="en-IN"/>
          </a:p>
        </p:txBody>
      </p:sp>
      <p:pic>
        <p:nvPicPr>
          <p:cNvPr id="15" name="Image 2" descr="preencoded.png"/>
          <p:cNvPicPr>
            <a:picLocks noChangeAspect="1"/>
          </p:cNvPicPr>
          <p:nvPr/>
        </p:nvPicPr>
        <p:blipFill>
          <a:blip r:embed="rId5"/>
          <a:stretch>
            <a:fillRect/>
          </a:stretch>
        </p:blipFill>
        <p:spPr>
          <a:xfrm>
            <a:off x="3035808" y="1197864"/>
            <a:ext cx="512064" cy="512064"/>
          </a:xfrm>
          <a:prstGeom prst="rect">
            <a:avLst/>
          </a:prstGeom>
        </p:spPr>
      </p:pic>
      <p:sp>
        <p:nvSpPr>
          <p:cNvPr id="16" name="Text 11"/>
          <p:cNvSpPr/>
          <p:nvPr/>
        </p:nvSpPr>
        <p:spPr>
          <a:xfrm>
            <a:off x="2450592" y="1993392"/>
            <a:ext cx="1874520" cy="438912"/>
          </a:xfrm>
          <a:prstGeom prst="rect">
            <a:avLst/>
          </a:prstGeom>
          <a:noFill/>
          <a:ln/>
        </p:spPr>
        <p:txBody>
          <a:bodyPr wrap="square" lIns="0" tIns="0" rIns="0" bIns="0" rtlCol="0" anchor="ctr"/>
          <a:lstStyle/>
          <a:p>
            <a:pPr marL="0" indent="0" algn="ctr">
              <a:buNone/>
            </a:pPr>
            <a:r>
              <a:rPr lang="en-US" sz="1300" b="1" dirty="0">
                <a:solidFill>
                  <a:srgbClr val="06D6A0"/>
                </a:solidFill>
                <a:latin typeface="Arial Black" pitchFamily="34" charset="0"/>
                <a:ea typeface="Arial Black" pitchFamily="34" charset="-122"/>
                <a:cs typeface="Arial Black" pitchFamily="34" charset="-120"/>
              </a:rPr>
              <a:t>DETECTION</a:t>
            </a:r>
            <a:endParaRPr lang="en-US" sz="1300" dirty="0"/>
          </a:p>
        </p:txBody>
      </p:sp>
      <p:sp>
        <p:nvSpPr>
          <p:cNvPr id="17" name="Text 12"/>
          <p:cNvSpPr/>
          <p:nvPr/>
        </p:nvSpPr>
        <p:spPr>
          <a:xfrm>
            <a:off x="2450592" y="2496312"/>
            <a:ext cx="1874520" cy="1920240"/>
          </a:xfrm>
          <a:prstGeom prst="rect">
            <a:avLst/>
          </a:prstGeom>
          <a:noFill/>
          <a:ln/>
        </p:spPr>
        <p:txBody>
          <a:bodyPr wrap="square" lIns="0" tIns="0" rIns="0" bIns="0" rtlCol="0" anchor="ctr"/>
          <a:lstStyle/>
          <a:p>
            <a:pPr marL="0" indent="0">
              <a:buNone/>
            </a:pPr>
            <a:r>
              <a:rPr lang="en-US" sz="1150" dirty="0">
                <a:solidFill>
                  <a:srgbClr val="F0F6FC"/>
                </a:solidFill>
                <a:latin typeface="Calibri" pitchFamily="34" charset="0"/>
                <a:ea typeface="Calibri" pitchFamily="34" charset="-122"/>
                <a:cs typeface="Calibri" pitchFamily="34" charset="-120"/>
              </a:rPr>
              <a:t>SIEM, IDS/IPS, and anomaly detection to identify threats in real time.</a:t>
            </a:r>
            <a:endParaRPr lang="en-US" sz="1150" dirty="0"/>
          </a:p>
        </p:txBody>
      </p:sp>
      <p:sp>
        <p:nvSpPr>
          <p:cNvPr id="18" name="Shape 13"/>
          <p:cNvSpPr/>
          <p:nvPr/>
        </p:nvSpPr>
        <p:spPr>
          <a:xfrm>
            <a:off x="4581144" y="1005840"/>
            <a:ext cx="2057400" cy="3493008"/>
          </a:xfrm>
          <a:prstGeom prst="rect">
            <a:avLst/>
          </a:prstGeom>
          <a:solidFill>
            <a:srgbClr val="161B22"/>
          </a:solidFill>
          <a:ln/>
        </p:spPr>
        <p:txBody>
          <a:bodyPr/>
          <a:lstStyle/>
          <a:p>
            <a:endParaRPr lang="en-IN"/>
          </a:p>
        </p:txBody>
      </p:sp>
      <p:sp>
        <p:nvSpPr>
          <p:cNvPr id="19" name="Shape 14"/>
          <p:cNvSpPr/>
          <p:nvPr/>
        </p:nvSpPr>
        <p:spPr>
          <a:xfrm>
            <a:off x="4581144" y="1005840"/>
            <a:ext cx="2057400" cy="64008"/>
          </a:xfrm>
          <a:prstGeom prst="rect">
            <a:avLst/>
          </a:prstGeom>
          <a:solidFill>
            <a:srgbClr val="06D6A0"/>
          </a:solidFill>
          <a:ln/>
        </p:spPr>
        <p:txBody>
          <a:bodyPr/>
          <a:lstStyle/>
          <a:p>
            <a:endParaRPr lang="en-IN"/>
          </a:p>
        </p:txBody>
      </p:sp>
      <p:sp>
        <p:nvSpPr>
          <p:cNvPr id="20" name="Shape 15"/>
          <p:cNvSpPr/>
          <p:nvPr/>
        </p:nvSpPr>
        <p:spPr>
          <a:xfrm>
            <a:off x="5239512" y="1170432"/>
            <a:ext cx="731520" cy="731520"/>
          </a:xfrm>
          <a:prstGeom prst="ellipse">
            <a:avLst/>
          </a:prstGeom>
          <a:solidFill>
            <a:srgbClr val="0A2A22"/>
          </a:solidFill>
          <a:ln/>
        </p:spPr>
        <p:txBody>
          <a:bodyPr/>
          <a:lstStyle/>
          <a:p>
            <a:endParaRPr lang="en-IN"/>
          </a:p>
        </p:txBody>
      </p:sp>
      <p:pic>
        <p:nvPicPr>
          <p:cNvPr id="21" name="Image 3" descr="preencoded.png"/>
          <p:cNvPicPr>
            <a:picLocks noChangeAspect="1"/>
          </p:cNvPicPr>
          <p:nvPr/>
        </p:nvPicPr>
        <p:blipFill>
          <a:blip r:embed="rId6"/>
          <a:stretch>
            <a:fillRect/>
          </a:stretch>
        </p:blipFill>
        <p:spPr>
          <a:xfrm>
            <a:off x="5257800" y="1197864"/>
            <a:ext cx="512064" cy="512064"/>
          </a:xfrm>
          <a:prstGeom prst="rect">
            <a:avLst/>
          </a:prstGeom>
        </p:spPr>
      </p:pic>
      <p:sp>
        <p:nvSpPr>
          <p:cNvPr id="22" name="Text 16"/>
          <p:cNvSpPr/>
          <p:nvPr/>
        </p:nvSpPr>
        <p:spPr>
          <a:xfrm>
            <a:off x="4672584" y="1993392"/>
            <a:ext cx="1874520" cy="438912"/>
          </a:xfrm>
          <a:prstGeom prst="rect">
            <a:avLst/>
          </a:prstGeom>
          <a:noFill/>
          <a:ln/>
        </p:spPr>
        <p:txBody>
          <a:bodyPr wrap="square" lIns="0" tIns="0" rIns="0" bIns="0" rtlCol="0" anchor="ctr"/>
          <a:lstStyle/>
          <a:p>
            <a:pPr marL="0" indent="0" algn="ctr">
              <a:buNone/>
            </a:pPr>
            <a:r>
              <a:rPr lang="en-US" sz="1300" b="1" dirty="0">
                <a:solidFill>
                  <a:srgbClr val="06D6A0"/>
                </a:solidFill>
                <a:latin typeface="Arial Black" pitchFamily="34" charset="0"/>
                <a:ea typeface="Arial Black" pitchFamily="34" charset="-122"/>
                <a:cs typeface="Arial Black" pitchFamily="34" charset="-120"/>
              </a:rPr>
              <a:t>RESPONSE</a:t>
            </a:r>
            <a:endParaRPr lang="en-US" sz="1300" dirty="0"/>
          </a:p>
        </p:txBody>
      </p:sp>
      <p:sp>
        <p:nvSpPr>
          <p:cNvPr id="23" name="Text 17"/>
          <p:cNvSpPr/>
          <p:nvPr/>
        </p:nvSpPr>
        <p:spPr>
          <a:xfrm>
            <a:off x="4672584" y="2496312"/>
            <a:ext cx="1874520" cy="1920240"/>
          </a:xfrm>
          <a:prstGeom prst="rect">
            <a:avLst/>
          </a:prstGeom>
          <a:noFill/>
          <a:ln/>
        </p:spPr>
        <p:txBody>
          <a:bodyPr wrap="square" lIns="0" tIns="0" rIns="0" bIns="0" rtlCol="0" anchor="ctr"/>
          <a:lstStyle/>
          <a:p>
            <a:pPr marL="0" indent="0">
              <a:buNone/>
            </a:pPr>
            <a:r>
              <a:rPr lang="en-US" sz="1150" dirty="0">
                <a:solidFill>
                  <a:srgbClr val="F0F6FC"/>
                </a:solidFill>
                <a:latin typeface="Calibri" pitchFamily="34" charset="0"/>
                <a:ea typeface="Calibri" pitchFamily="34" charset="-122"/>
                <a:cs typeface="Calibri" pitchFamily="34" charset="-120"/>
              </a:rPr>
              <a:t>Incident response plans, forensics, and automated playbooks to contain attacks.</a:t>
            </a:r>
            <a:endParaRPr lang="en-US" sz="1150" dirty="0"/>
          </a:p>
        </p:txBody>
      </p:sp>
      <p:sp>
        <p:nvSpPr>
          <p:cNvPr id="24" name="Shape 18"/>
          <p:cNvSpPr/>
          <p:nvPr/>
        </p:nvSpPr>
        <p:spPr>
          <a:xfrm>
            <a:off x="6803136" y="1005840"/>
            <a:ext cx="2057400" cy="3493008"/>
          </a:xfrm>
          <a:prstGeom prst="rect">
            <a:avLst/>
          </a:prstGeom>
          <a:solidFill>
            <a:srgbClr val="161B22"/>
          </a:solidFill>
          <a:ln/>
        </p:spPr>
        <p:txBody>
          <a:bodyPr/>
          <a:lstStyle/>
          <a:p>
            <a:endParaRPr lang="en-IN"/>
          </a:p>
        </p:txBody>
      </p:sp>
      <p:sp>
        <p:nvSpPr>
          <p:cNvPr id="25" name="Shape 19"/>
          <p:cNvSpPr/>
          <p:nvPr/>
        </p:nvSpPr>
        <p:spPr>
          <a:xfrm>
            <a:off x="6803136" y="1005840"/>
            <a:ext cx="2057400" cy="64008"/>
          </a:xfrm>
          <a:prstGeom prst="rect">
            <a:avLst/>
          </a:prstGeom>
          <a:solidFill>
            <a:srgbClr val="06D6A0"/>
          </a:solidFill>
          <a:ln/>
        </p:spPr>
        <p:txBody>
          <a:bodyPr/>
          <a:lstStyle/>
          <a:p>
            <a:endParaRPr lang="en-IN"/>
          </a:p>
        </p:txBody>
      </p:sp>
      <p:sp>
        <p:nvSpPr>
          <p:cNvPr id="26" name="Shape 20"/>
          <p:cNvSpPr/>
          <p:nvPr/>
        </p:nvSpPr>
        <p:spPr>
          <a:xfrm>
            <a:off x="7461504" y="1170432"/>
            <a:ext cx="731520" cy="731520"/>
          </a:xfrm>
          <a:prstGeom prst="ellipse">
            <a:avLst/>
          </a:prstGeom>
          <a:solidFill>
            <a:srgbClr val="0A2A22"/>
          </a:solidFill>
          <a:ln/>
        </p:spPr>
        <p:txBody>
          <a:bodyPr/>
          <a:lstStyle/>
          <a:p>
            <a:endParaRPr lang="en-IN"/>
          </a:p>
        </p:txBody>
      </p:sp>
      <p:pic>
        <p:nvPicPr>
          <p:cNvPr id="27" name="Image 4" descr="preencoded.png"/>
          <p:cNvPicPr>
            <a:picLocks noChangeAspect="1"/>
          </p:cNvPicPr>
          <p:nvPr/>
        </p:nvPicPr>
        <p:blipFill>
          <a:blip r:embed="rId7"/>
          <a:stretch>
            <a:fillRect/>
          </a:stretch>
        </p:blipFill>
        <p:spPr>
          <a:xfrm>
            <a:off x="7479792" y="1197864"/>
            <a:ext cx="512064" cy="512064"/>
          </a:xfrm>
          <a:prstGeom prst="rect">
            <a:avLst/>
          </a:prstGeom>
        </p:spPr>
      </p:pic>
      <p:sp>
        <p:nvSpPr>
          <p:cNvPr id="28" name="Text 21"/>
          <p:cNvSpPr/>
          <p:nvPr/>
        </p:nvSpPr>
        <p:spPr>
          <a:xfrm>
            <a:off x="6894576" y="1993392"/>
            <a:ext cx="1874520" cy="438912"/>
          </a:xfrm>
          <a:prstGeom prst="rect">
            <a:avLst/>
          </a:prstGeom>
          <a:noFill/>
          <a:ln/>
        </p:spPr>
        <p:txBody>
          <a:bodyPr wrap="square" lIns="0" tIns="0" rIns="0" bIns="0" rtlCol="0" anchor="ctr"/>
          <a:lstStyle/>
          <a:p>
            <a:pPr marL="0" indent="0" algn="ctr">
              <a:buNone/>
            </a:pPr>
            <a:r>
              <a:rPr lang="en-US" sz="1300" b="1" dirty="0">
                <a:solidFill>
                  <a:srgbClr val="06D6A0"/>
                </a:solidFill>
                <a:latin typeface="Arial Black" pitchFamily="34" charset="0"/>
                <a:ea typeface="Arial Black" pitchFamily="34" charset="-122"/>
                <a:cs typeface="Arial Black" pitchFamily="34" charset="-120"/>
              </a:rPr>
              <a:t>RECOVERY</a:t>
            </a:r>
            <a:endParaRPr lang="en-US" sz="1300" dirty="0"/>
          </a:p>
        </p:txBody>
      </p:sp>
      <p:sp>
        <p:nvSpPr>
          <p:cNvPr id="29" name="Text 22"/>
          <p:cNvSpPr/>
          <p:nvPr/>
        </p:nvSpPr>
        <p:spPr>
          <a:xfrm>
            <a:off x="6894576" y="2496312"/>
            <a:ext cx="1874520" cy="1920240"/>
          </a:xfrm>
          <a:prstGeom prst="rect">
            <a:avLst/>
          </a:prstGeom>
          <a:noFill/>
          <a:ln/>
        </p:spPr>
        <p:txBody>
          <a:bodyPr wrap="square" lIns="0" tIns="0" rIns="0" bIns="0" rtlCol="0" anchor="ctr"/>
          <a:lstStyle/>
          <a:p>
            <a:pPr marL="0" indent="0">
              <a:buNone/>
            </a:pPr>
            <a:r>
              <a:rPr lang="en-US" sz="1150" dirty="0">
                <a:solidFill>
                  <a:srgbClr val="F0F6FC"/>
                </a:solidFill>
                <a:latin typeface="Calibri" pitchFamily="34" charset="0"/>
                <a:ea typeface="Calibri" pitchFamily="34" charset="-122"/>
                <a:cs typeface="Calibri" pitchFamily="34" charset="-120"/>
              </a:rPr>
              <a:t>Backups, DR planning, and post-incident hardening to restore operations.</a:t>
            </a:r>
            <a:endParaRPr lang="en-US" sz="1150" dirty="0"/>
          </a:p>
        </p:txBody>
      </p:sp>
      <p:sp>
        <p:nvSpPr>
          <p:cNvPr id="30" name="Shape 23"/>
          <p:cNvSpPr/>
          <p:nvPr/>
        </p:nvSpPr>
        <p:spPr>
          <a:xfrm>
            <a:off x="0" y="4617720"/>
            <a:ext cx="9144000" cy="525780"/>
          </a:xfrm>
          <a:prstGeom prst="rect">
            <a:avLst/>
          </a:prstGeom>
          <a:solidFill>
            <a:srgbClr val="0A0F16"/>
          </a:solidFill>
          <a:ln/>
        </p:spPr>
        <p:txBody>
          <a:bodyPr/>
          <a:lstStyle/>
          <a:p>
            <a:endParaRPr lang="en-IN"/>
          </a:p>
        </p:txBody>
      </p:sp>
      <p:sp>
        <p:nvSpPr>
          <p:cNvPr id="31" name="Shape 24"/>
          <p:cNvSpPr/>
          <p:nvPr/>
        </p:nvSpPr>
        <p:spPr>
          <a:xfrm>
            <a:off x="0" y="4617720"/>
            <a:ext cx="9144000" cy="36576"/>
          </a:xfrm>
          <a:prstGeom prst="rect">
            <a:avLst/>
          </a:prstGeom>
          <a:solidFill>
            <a:srgbClr val="06D6A0"/>
          </a:solidFill>
          <a:ln/>
        </p:spPr>
        <p:txBody>
          <a:bodyPr/>
          <a:lstStyle/>
          <a:p>
            <a:endParaRPr lang="en-IN"/>
          </a:p>
        </p:txBody>
      </p:sp>
      <p:sp>
        <p:nvSpPr>
          <p:cNvPr id="32" name="Text 25"/>
          <p:cNvSpPr/>
          <p:nvPr/>
        </p:nvSpPr>
        <p:spPr>
          <a:xfrm>
            <a:off x="182880" y="4654296"/>
            <a:ext cx="8778240" cy="457200"/>
          </a:xfrm>
          <a:prstGeom prst="rect">
            <a:avLst/>
          </a:prstGeom>
          <a:noFill/>
          <a:ln/>
        </p:spPr>
        <p:txBody>
          <a:bodyPr wrap="square" lIns="0" tIns="0" rIns="0" bIns="0" rtlCol="0" anchor="ctr"/>
          <a:lstStyle/>
          <a:p>
            <a:pPr marL="0" indent="0">
              <a:buNone/>
            </a:pPr>
            <a:r>
              <a:rPr lang="en-US" sz="1050" i="1" dirty="0">
                <a:solidFill>
                  <a:srgbClr val="8B949E"/>
                </a:solidFill>
                <a:latin typeface="Calibri" pitchFamily="34" charset="0"/>
                <a:ea typeface="Calibri" pitchFamily="34" charset="-122"/>
                <a:cs typeface="Calibri" pitchFamily="34" charset="-120"/>
              </a:rPr>
              <a:t>📋  Defensive Security operates across four lifecycle pillars: Prevention stops threats at the gate, Detection catches what slips through, Response minimizes damage when attacks succeed, and Recovery restores full operations afterward.</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6D6A0"/>
          </a:solidFill>
          <a:ln/>
        </p:spPr>
        <p:txBody>
          <a:bodyPr/>
          <a:lstStyle/>
          <a:p>
            <a:endParaRPr lang="en-IN"/>
          </a:p>
        </p:txBody>
      </p:sp>
      <p:sp>
        <p:nvSpPr>
          <p:cNvPr id="3" name="Text 1"/>
          <p:cNvSpPr/>
          <p:nvPr/>
        </p:nvSpPr>
        <p:spPr>
          <a:xfrm>
            <a:off x="274320" y="0"/>
            <a:ext cx="8595360" cy="685800"/>
          </a:xfrm>
          <a:prstGeom prst="rect">
            <a:avLst/>
          </a:prstGeom>
          <a:noFill/>
          <a:ln/>
        </p:spPr>
        <p:txBody>
          <a:bodyPr wrap="square" lIns="0" tIns="0" rIns="0" bIns="0" rtlCol="0" anchor="ctr"/>
          <a:lstStyle/>
          <a:p>
            <a:pPr marL="0" indent="0" algn="ctr">
              <a:buNone/>
            </a:pPr>
            <a:r>
              <a:rPr lang="en-US" sz="2000" b="1" dirty="0">
                <a:solidFill>
                  <a:srgbClr val="0D1117"/>
                </a:solidFill>
                <a:latin typeface="Arial Black" pitchFamily="34" charset="0"/>
                <a:ea typeface="Arial Black" pitchFamily="34" charset="-122"/>
                <a:cs typeface="Arial Black" pitchFamily="34" charset="-120"/>
              </a:rPr>
              <a:t>DEFENSIVE TOOLS &amp; FRAMEWORKS</a:t>
            </a:r>
            <a:endParaRPr lang="en-US" sz="2000" dirty="0"/>
          </a:p>
        </p:txBody>
      </p:sp>
      <p:sp>
        <p:nvSpPr>
          <p:cNvPr id="4" name="Shape 2"/>
          <p:cNvSpPr/>
          <p:nvPr/>
        </p:nvSpPr>
        <p:spPr>
          <a:xfrm>
            <a:off x="228600" y="804672"/>
            <a:ext cx="8686800" cy="1005840"/>
          </a:xfrm>
          <a:prstGeom prst="rect">
            <a:avLst/>
          </a:prstGeom>
          <a:solidFill>
            <a:srgbClr val="1E2A38"/>
          </a:solidFill>
          <a:ln/>
        </p:spPr>
        <p:txBody>
          <a:bodyPr/>
          <a:lstStyle/>
          <a:p>
            <a:endParaRPr lang="en-IN"/>
          </a:p>
        </p:txBody>
      </p:sp>
      <p:sp>
        <p:nvSpPr>
          <p:cNvPr id="5" name="Shape 3"/>
          <p:cNvSpPr/>
          <p:nvPr/>
        </p:nvSpPr>
        <p:spPr>
          <a:xfrm>
            <a:off x="228600" y="804672"/>
            <a:ext cx="64008" cy="1005840"/>
          </a:xfrm>
          <a:prstGeom prst="rect">
            <a:avLst/>
          </a:prstGeom>
          <a:solidFill>
            <a:srgbClr val="06D6A0"/>
          </a:solidFill>
          <a:ln/>
        </p:spPr>
        <p:txBody>
          <a:bodyPr/>
          <a:lstStyle/>
          <a:p>
            <a:endParaRPr lang="en-IN"/>
          </a:p>
        </p:txBody>
      </p:sp>
      <p:sp>
        <p:nvSpPr>
          <p:cNvPr id="6" name="Text 4"/>
          <p:cNvSpPr/>
          <p:nvPr/>
        </p:nvSpPr>
        <p:spPr>
          <a:xfrm>
            <a:off x="411480" y="822960"/>
            <a:ext cx="3657600" cy="411480"/>
          </a:xfrm>
          <a:prstGeom prst="rect">
            <a:avLst/>
          </a:prstGeom>
          <a:noFill/>
          <a:ln/>
        </p:spPr>
        <p:txBody>
          <a:bodyPr wrap="square" lIns="0" tIns="0" rIns="0" bIns="0" rtlCol="0" anchor="ctr"/>
          <a:lstStyle/>
          <a:p>
            <a:pPr marL="0" indent="0">
              <a:buNone/>
            </a:pPr>
            <a:r>
              <a:rPr lang="en-US" sz="1500" b="1" dirty="0">
                <a:solidFill>
                  <a:srgbClr val="06D6A0"/>
                </a:solidFill>
                <a:latin typeface="Arial Black" pitchFamily="34" charset="0"/>
                <a:ea typeface="Arial Black" pitchFamily="34" charset="-122"/>
                <a:cs typeface="Arial Black" pitchFamily="34" charset="-120"/>
              </a:rPr>
              <a:t>MITRE ATT&amp;CK Framework</a:t>
            </a:r>
            <a:endParaRPr lang="en-US" sz="1500" dirty="0"/>
          </a:p>
        </p:txBody>
      </p:sp>
      <p:sp>
        <p:nvSpPr>
          <p:cNvPr id="7" name="Text 5"/>
          <p:cNvSpPr/>
          <p:nvPr/>
        </p:nvSpPr>
        <p:spPr>
          <a:xfrm>
            <a:off x="411480" y="1188720"/>
            <a:ext cx="8321040" cy="502920"/>
          </a:xfrm>
          <a:prstGeom prst="rect">
            <a:avLst/>
          </a:prstGeom>
          <a:noFill/>
          <a:ln/>
        </p:spPr>
        <p:txBody>
          <a:bodyPr wrap="square" lIns="0" tIns="0" rIns="0" bIns="0" rtlCol="0" anchor="ctr"/>
          <a:lstStyle/>
          <a:p>
            <a:pPr marL="0" indent="0">
              <a:buNone/>
            </a:pPr>
            <a:r>
              <a:rPr lang="en-US" sz="1150" dirty="0">
                <a:solidFill>
                  <a:srgbClr val="F0F6FC"/>
                </a:solidFill>
                <a:latin typeface="Calibri" pitchFamily="34" charset="0"/>
                <a:ea typeface="Calibri" pitchFamily="34" charset="-122"/>
                <a:cs typeface="Calibri" pitchFamily="34" charset="-120"/>
              </a:rPr>
              <a:t>A globally-accessible knowledge base of adversary tactics and techniques — used as a foundation for threat models, red team exercises, and defensive gap analysis.</a:t>
            </a:r>
            <a:endParaRPr lang="en-US" sz="1150" dirty="0"/>
          </a:p>
        </p:txBody>
      </p:sp>
      <p:sp>
        <p:nvSpPr>
          <p:cNvPr id="8" name="Shape 6"/>
          <p:cNvSpPr/>
          <p:nvPr/>
        </p:nvSpPr>
        <p:spPr>
          <a:xfrm>
            <a:off x="228600" y="1938528"/>
            <a:ext cx="2788920" cy="1216152"/>
          </a:xfrm>
          <a:prstGeom prst="rect">
            <a:avLst/>
          </a:prstGeom>
          <a:solidFill>
            <a:srgbClr val="161B22"/>
          </a:solidFill>
          <a:ln/>
        </p:spPr>
        <p:txBody>
          <a:bodyPr/>
          <a:lstStyle/>
          <a:p>
            <a:endParaRPr lang="en-IN"/>
          </a:p>
        </p:txBody>
      </p:sp>
      <p:sp>
        <p:nvSpPr>
          <p:cNvPr id="9" name="Shape 7"/>
          <p:cNvSpPr/>
          <p:nvPr/>
        </p:nvSpPr>
        <p:spPr>
          <a:xfrm>
            <a:off x="228600" y="1938528"/>
            <a:ext cx="2788920" cy="54864"/>
          </a:xfrm>
          <a:prstGeom prst="rect">
            <a:avLst/>
          </a:prstGeom>
          <a:solidFill>
            <a:srgbClr val="06D6A0"/>
          </a:solidFill>
          <a:ln/>
        </p:spPr>
        <p:txBody>
          <a:bodyPr/>
          <a:lstStyle/>
          <a:p>
            <a:endParaRPr lang="en-IN"/>
          </a:p>
        </p:txBody>
      </p:sp>
      <p:sp>
        <p:nvSpPr>
          <p:cNvPr id="10" name="Text 8"/>
          <p:cNvSpPr/>
          <p:nvPr/>
        </p:nvSpPr>
        <p:spPr>
          <a:xfrm>
            <a:off x="320040" y="2029968"/>
            <a:ext cx="2606040" cy="365760"/>
          </a:xfrm>
          <a:prstGeom prst="rect">
            <a:avLst/>
          </a:prstGeom>
          <a:noFill/>
          <a:ln/>
        </p:spPr>
        <p:txBody>
          <a:bodyPr wrap="square" lIns="0" tIns="0" rIns="0" bIns="0" rtlCol="0" anchor="ctr"/>
          <a:lstStyle/>
          <a:p>
            <a:pPr marL="0" indent="0">
              <a:buNone/>
            </a:pPr>
            <a:r>
              <a:rPr lang="en-US" sz="1300" b="1" dirty="0">
                <a:solidFill>
                  <a:srgbClr val="06D6A0"/>
                </a:solidFill>
                <a:latin typeface="Arial Black" pitchFamily="34" charset="0"/>
                <a:ea typeface="Arial Black" pitchFamily="34" charset="-122"/>
                <a:cs typeface="Arial Black" pitchFamily="34" charset="-120"/>
              </a:rPr>
              <a:t>Splunk / SIEM</a:t>
            </a:r>
            <a:endParaRPr lang="en-US" sz="1300" dirty="0"/>
          </a:p>
        </p:txBody>
      </p:sp>
      <p:sp>
        <p:nvSpPr>
          <p:cNvPr id="11" name="Text 9"/>
          <p:cNvSpPr/>
          <p:nvPr/>
        </p:nvSpPr>
        <p:spPr>
          <a:xfrm>
            <a:off x="320040" y="2414016"/>
            <a:ext cx="2606040" cy="694944"/>
          </a:xfrm>
          <a:prstGeom prst="rect">
            <a:avLst/>
          </a:prstGeom>
          <a:noFill/>
          <a:ln/>
        </p:spPr>
        <p:txBody>
          <a:bodyPr wrap="square" lIns="0" tIns="0" rIns="0" bIns="0" rtlCol="0" anchor="ctr"/>
          <a:lstStyle/>
          <a:p>
            <a:pPr marL="0" indent="0">
              <a:buNone/>
            </a:pPr>
            <a:r>
              <a:rPr lang="en-US" sz="1100" dirty="0">
                <a:solidFill>
                  <a:srgbClr val="F0F6FC"/>
                </a:solidFill>
                <a:latin typeface="Calibri" pitchFamily="34" charset="0"/>
                <a:ea typeface="Calibri" pitchFamily="34" charset="-122"/>
                <a:cs typeface="Calibri" pitchFamily="34" charset="-120"/>
              </a:rPr>
              <a:t>Aggregate logs and detect suspicious patterns across entire infrastructure.</a:t>
            </a:r>
            <a:endParaRPr lang="en-US" sz="1100" dirty="0"/>
          </a:p>
        </p:txBody>
      </p:sp>
      <p:sp>
        <p:nvSpPr>
          <p:cNvPr id="12" name="Shape 10"/>
          <p:cNvSpPr/>
          <p:nvPr/>
        </p:nvSpPr>
        <p:spPr>
          <a:xfrm>
            <a:off x="3154680" y="1938528"/>
            <a:ext cx="2788920" cy="1216152"/>
          </a:xfrm>
          <a:prstGeom prst="rect">
            <a:avLst/>
          </a:prstGeom>
          <a:solidFill>
            <a:srgbClr val="161B22"/>
          </a:solidFill>
          <a:ln/>
        </p:spPr>
        <p:txBody>
          <a:bodyPr/>
          <a:lstStyle/>
          <a:p>
            <a:endParaRPr lang="en-IN"/>
          </a:p>
        </p:txBody>
      </p:sp>
      <p:sp>
        <p:nvSpPr>
          <p:cNvPr id="13" name="Shape 11"/>
          <p:cNvSpPr/>
          <p:nvPr/>
        </p:nvSpPr>
        <p:spPr>
          <a:xfrm>
            <a:off x="3154680" y="1938528"/>
            <a:ext cx="2788920" cy="54864"/>
          </a:xfrm>
          <a:prstGeom prst="rect">
            <a:avLst/>
          </a:prstGeom>
          <a:solidFill>
            <a:srgbClr val="06D6A0"/>
          </a:solidFill>
          <a:ln/>
        </p:spPr>
        <p:txBody>
          <a:bodyPr/>
          <a:lstStyle/>
          <a:p>
            <a:endParaRPr lang="en-IN"/>
          </a:p>
        </p:txBody>
      </p:sp>
      <p:sp>
        <p:nvSpPr>
          <p:cNvPr id="14" name="Text 12"/>
          <p:cNvSpPr/>
          <p:nvPr/>
        </p:nvSpPr>
        <p:spPr>
          <a:xfrm>
            <a:off x="3246120" y="2029968"/>
            <a:ext cx="2606040" cy="365760"/>
          </a:xfrm>
          <a:prstGeom prst="rect">
            <a:avLst/>
          </a:prstGeom>
          <a:noFill/>
          <a:ln/>
        </p:spPr>
        <p:txBody>
          <a:bodyPr wrap="square" lIns="0" tIns="0" rIns="0" bIns="0" rtlCol="0" anchor="ctr"/>
          <a:lstStyle/>
          <a:p>
            <a:pPr marL="0" indent="0">
              <a:buNone/>
            </a:pPr>
            <a:r>
              <a:rPr lang="en-US" sz="1300" b="1" dirty="0">
                <a:solidFill>
                  <a:srgbClr val="06D6A0"/>
                </a:solidFill>
                <a:latin typeface="Arial Black" pitchFamily="34" charset="0"/>
                <a:ea typeface="Arial Black" pitchFamily="34" charset="-122"/>
                <a:cs typeface="Arial Black" pitchFamily="34" charset="-120"/>
              </a:rPr>
              <a:t>Snort / Suricata</a:t>
            </a:r>
            <a:endParaRPr lang="en-US" sz="1300" dirty="0"/>
          </a:p>
        </p:txBody>
      </p:sp>
      <p:sp>
        <p:nvSpPr>
          <p:cNvPr id="15" name="Text 13"/>
          <p:cNvSpPr/>
          <p:nvPr/>
        </p:nvSpPr>
        <p:spPr>
          <a:xfrm>
            <a:off x="3246120" y="2414016"/>
            <a:ext cx="2606040" cy="694944"/>
          </a:xfrm>
          <a:prstGeom prst="rect">
            <a:avLst/>
          </a:prstGeom>
          <a:noFill/>
          <a:ln/>
        </p:spPr>
        <p:txBody>
          <a:bodyPr wrap="square" lIns="0" tIns="0" rIns="0" bIns="0" rtlCol="0" anchor="ctr"/>
          <a:lstStyle/>
          <a:p>
            <a:pPr marL="0" indent="0">
              <a:buNone/>
            </a:pPr>
            <a:r>
              <a:rPr lang="en-US" sz="1100" dirty="0">
                <a:solidFill>
                  <a:srgbClr val="F0F6FC"/>
                </a:solidFill>
                <a:latin typeface="Calibri" pitchFamily="34" charset="0"/>
                <a:ea typeface="Calibri" pitchFamily="34" charset="-122"/>
                <a:cs typeface="Calibri" pitchFamily="34" charset="-120"/>
              </a:rPr>
              <a:t>Open-source IDS/IPS for real-time packet analysis and threat blocking.</a:t>
            </a:r>
            <a:endParaRPr lang="en-US" sz="1100" dirty="0"/>
          </a:p>
        </p:txBody>
      </p:sp>
      <p:sp>
        <p:nvSpPr>
          <p:cNvPr id="16" name="Shape 14"/>
          <p:cNvSpPr/>
          <p:nvPr/>
        </p:nvSpPr>
        <p:spPr>
          <a:xfrm>
            <a:off x="6080760" y="1938528"/>
            <a:ext cx="2788920" cy="1216152"/>
          </a:xfrm>
          <a:prstGeom prst="rect">
            <a:avLst/>
          </a:prstGeom>
          <a:solidFill>
            <a:srgbClr val="161B22"/>
          </a:solidFill>
          <a:ln/>
        </p:spPr>
        <p:txBody>
          <a:bodyPr/>
          <a:lstStyle/>
          <a:p>
            <a:endParaRPr lang="en-IN"/>
          </a:p>
        </p:txBody>
      </p:sp>
      <p:sp>
        <p:nvSpPr>
          <p:cNvPr id="17" name="Shape 15"/>
          <p:cNvSpPr/>
          <p:nvPr/>
        </p:nvSpPr>
        <p:spPr>
          <a:xfrm>
            <a:off x="6080760" y="1938528"/>
            <a:ext cx="2788920" cy="54864"/>
          </a:xfrm>
          <a:prstGeom prst="rect">
            <a:avLst/>
          </a:prstGeom>
          <a:solidFill>
            <a:srgbClr val="06D6A0"/>
          </a:solidFill>
          <a:ln/>
        </p:spPr>
        <p:txBody>
          <a:bodyPr/>
          <a:lstStyle/>
          <a:p>
            <a:endParaRPr lang="en-IN"/>
          </a:p>
        </p:txBody>
      </p:sp>
      <p:sp>
        <p:nvSpPr>
          <p:cNvPr id="18" name="Text 16"/>
          <p:cNvSpPr/>
          <p:nvPr/>
        </p:nvSpPr>
        <p:spPr>
          <a:xfrm>
            <a:off x="6172200" y="2029968"/>
            <a:ext cx="2606040" cy="365760"/>
          </a:xfrm>
          <a:prstGeom prst="rect">
            <a:avLst/>
          </a:prstGeom>
          <a:noFill/>
          <a:ln/>
        </p:spPr>
        <p:txBody>
          <a:bodyPr wrap="square" lIns="0" tIns="0" rIns="0" bIns="0" rtlCol="0" anchor="ctr"/>
          <a:lstStyle/>
          <a:p>
            <a:pPr marL="0" indent="0">
              <a:buNone/>
            </a:pPr>
            <a:r>
              <a:rPr lang="en-US" sz="1300" b="1" dirty="0">
                <a:solidFill>
                  <a:srgbClr val="06D6A0"/>
                </a:solidFill>
                <a:latin typeface="Arial Black" pitchFamily="34" charset="0"/>
                <a:ea typeface="Arial Black" pitchFamily="34" charset="-122"/>
                <a:cs typeface="Arial Black" pitchFamily="34" charset="-120"/>
              </a:rPr>
              <a:t>CrowdStrike EDR</a:t>
            </a:r>
            <a:endParaRPr lang="en-US" sz="1300" dirty="0"/>
          </a:p>
        </p:txBody>
      </p:sp>
      <p:sp>
        <p:nvSpPr>
          <p:cNvPr id="19" name="Text 17"/>
          <p:cNvSpPr/>
          <p:nvPr/>
        </p:nvSpPr>
        <p:spPr>
          <a:xfrm>
            <a:off x="6172200" y="2414016"/>
            <a:ext cx="2606040" cy="694944"/>
          </a:xfrm>
          <a:prstGeom prst="rect">
            <a:avLst/>
          </a:prstGeom>
          <a:noFill/>
          <a:ln/>
        </p:spPr>
        <p:txBody>
          <a:bodyPr wrap="square" lIns="0" tIns="0" rIns="0" bIns="0" rtlCol="0" anchor="ctr"/>
          <a:lstStyle/>
          <a:p>
            <a:pPr marL="0" indent="0">
              <a:buNone/>
            </a:pPr>
            <a:r>
              <a:rPr lang="en-US" sz="1100" dirty="0">
                <a:solidFill>
                  <a:srgbClr val="F0F6FC"/>
                </a:solidFill>
                <a:latin typeface="Calibri" pitchFamily="34" charset="0"/>
                <a:ea typeface="Calibri" pitchFamily="34" charset="-122"/>
                <a:cs typeface="Calibri" pitchFamily="34" charset="-120"/>
              </a:rPr>
              <a:t>Endpoint detection and response with AI-powered behavioral analysis.</a:t>
            </a:r>
            <a:endParaRPr lang="en-US" sz="1100" dirty="0"/>
          </a:p>
        </p:txBody>
      </p:sp>
      <p:sp>
        <p:nvSpPr>
          <p:cNvPr id="20" name="Shape 18"/>
          <p:cNvSpPr/>
          <p:nvPr/>
        </p:nvSpPr>
        <p:spPr>
          <a:xfrm>
            <a:off x="228600" y="3291840"/>
            <a:ext cx="2788920" cy="1216152"/>
          </a:xfrm>
          <a:prstGeom prst="rect">
            <a:avLst/>
          </a:prstGeom>
          <a:solidFill>
            <a:srgbClr val="161B22"/>
          </a:solidFill>
          <a:ln/>
        </p:spPr>
        <p:txBody>
          <a:bodyPr/>
          <a:lstStyle/>
          <a:p>
            <a:endParaRPr lang="en-IN"/>
          </a:p>
        </p:txBody>
      </p:sp>
      <p:sp>
        <p:nvSpPr>
          <p:cNvPr id="21" name="Shape 19"/>
          <p:cNvSpPr/>
          <p:nvPr/>
        </p:nvSpPr>
        <p:spPr>
          <a:xfrm>
            <a:off x="228600" y="3291840"/>
            <a:ext cx="2788920" cy="54864"/>
          </a:xfrm>
          <a:prstGeom prst="rect">
            <a:avLst/>
          </a:prstGeom>
          <a:solidFill>
            <a:srgbClr val="06D6A0"/>
          </a:solidFill>
          <a:ln/>
        </p:spPr>
        <p:txBody>
          <a:bodyPr/>
          <a:lstStyle/>
          <a:p>
            <a:endParaRPr lang="en-IN"/>
          </a:p>
        </p:txBody>
      </p:sp>
      <p:sp>
        <p:nvSpPr>
          <p:cNvPr id="22" name="Text 20"/>
          <p:cNvSpPr/>
          <p:nvPr/>
        </p:nvSpPr>
        <p:spPr>
          <a:xfrm>
            <a:off x="320040" y="3383280"/>
            <a:ext cx="2606040" cy="365760"/>
          </a:xfrm>
          <a:prstGeom prst="rect">
            <a:avLst/>
          </a:prstGeom>
          <a:noFill/>
          <a:ln/>
        </p:spPr>
        <p:txBody>
          <a:bodyPr wrap="square" lIns="0" tIns="0" rIns="0" bIns="0" rtlCol="0" anchor="ctr"/>
          <a:lstStyle/>
          <a:p>
            <a:pPr marL="0" indent="0">
              <a:buNone/>
            </a:pPr>
            <a:r>
              <a:rPr lang="en-US" sz="1300" b="1" dirty="0">
                <a:solidFill>
                  <a:srgbClr val="06D6A0"/>
                </a:solidFill>
                <a:latin typeface="Arial Black" pitchFamily="34" charset="0"/>
                <a:ea typeface="Arial Black" pitchFamily="34" charset="-122"/>
                <a:cs typeface="Arial Black" pitchFamily="34" charset="-120"/>
              </a:rPr>
              <a:t>Wireshark</a:t>
            </a:r>
            <a:endParaRPr lang="en-US" sz="1300" dirty="0"/>
          </a:p>
        </p:txBody>
      </p:sp>
      <p:sp>
        <p:nvSpPr>
          <p:cNvPr id="23" name="Text 21"/>
          <p:cNvSpPr/>
          <p:nvPr/>
        </p:nvSpPr>
        <p:spPr>
          <a:xfrm>
            <a:off x="320040" y="3767328"/>
            <a:ext cx="2606040" cy="694944"/>
          </a:xfrm>
          <a:prstGeom prst="rect">
            <a:avLst/>
          </a:prstGeom>
          <a:noFill/>
          <a:ln/>
        </p:spPr>
        <p:txBody>
          <a:bodyPr wrap="square" lIns="0" tIns="0" rIns="0" bIns="0" rtlCol="0" anchor="ctr"/>
          <a:lstStyle/>
          <a:p>
            <a:pPr marL="0" indent="0">
              <a:buNone/>
            </a:pPr>
            <a:r>
              <a:rPr lang="en-US" sz="1100" dirty="0">
                <a:solidFill>
                  <a:srgbClr val="F0F6FC"/>
                </a:solidFill>
                <a:latin typeface="Calibri" pitchFamily="34" charset="0"/>
                <a:ea typeface="Calibri" pitchFamily="34" charset="-122"/>
                <a:cs typeface="Calibri" pitchFamily="34" charset="-120"/>
              </a:rPr>
              <a:t>Deep packet inspection for network traffic analysis and forensics.</a:t>
            </a:r>
            <a:endParaRPr lang="en-US" sz="1100" dirty="0"/>
          </a:p>
        </p:txBody>
      </p:sp>
      <p:sp>
        <p:nvSpPr>
          <p:cNvPr id="24" name="Shape 22"/>
          <p:cNvSpPr/>
          <p:nvPr/>
        </p:nvSpPr>
        <p:spPr>
          <a:xfrm>
            <a:off x="3154680" y="3291840"/>
            <a:ext cx="2788920" cy="1216152"/>
          </a:xfrm>
          <a:prstGeom prst="rect">
            <a:avLst/>
          </a:prstGeom>
          <a:solidFill>
            <a:srgbClr val="161B22"/>
          </a:solidFill>
          <a:ln/>
        </p:spPr>
        <p:txBody>
          <a:bodyPr/>
          <a:lstStyle/>
          <a:p>
            <a:endParaRPr lang="en-IN"/>
          </a:p>
        </p:txBody>
      </p:sp>
      <p:sp>
        <p:nvSpPr>
          <p:cNvPr id="25" name="Shape 23"/>
          <p:cNvSpPr/>
          <p:nvPr/>
        </p:nvSpPr>
        <p:spPr>
          <a:xfrm>
            <a:off x="3154680" y="3291840"/>
            <a:ext cx="2788920" cy="54864"/>
          </a:xfrm>
          <a:prstGeom prst="rect">
            <a:avLst/>
          </a:prstGeom>
          <a:solidFill>
            <a:srgbClr val="06D6A0"/>
          </a:solidFill>
          <a:ln/>
        </p:spPr>
        <p:txBody>
          <a:bodyPr/>
          <a:lstStyle/>
          <a:p>
            <a:endParaRPr lang="en-IN"/>
          </a:p>
        </p:txBody>
      </p:sp>
      <p:sp>
        <p:nvSpPr>
          <p:cNvPr id="26" name="Text 24"/>
          <p:cNvSpPr/>
          <p:nvPr/>
        </p:nvSpPr>
        <p:spPr>
          <a:xfrm>
            <a:off x="3246120" y="3383280"/>
            <a:ext cx="2606040" cy="365760"/>
          </a:xfrm>
          <a:prstGeom prst="rect">
            <a:avLst/>
          </a:prstGeom>
          <a:noFill/>
          <a:ln/>
        </p:spPr>
        <p:txBody>
          <a:bodyPr wrap="square" lIns="0" tIns="0" rIns="0" bIns="0" rtlCol="0" anchor="ctr"/>
          <a:lstStyle/>
          <a:p>
            <a:pPr marL="0" indent="0">
              <a:buNone/>
            </a:pPr>
            <a:r>
              <a:rPr lang="en-US" sz="1300" b="1" dirty="0">
                <a:solidFill>
                  <a:srgbClr val="06D6A0"/>
                </a:solidFill>
                <a:latin typeface="Arial Black" pitchFamily="34" charset="0"/>
                <a:ea typeface="Arial Black" pitchFamily="34" charset="-122"/>
                <a:cs typeface="Arial Black" pitchFamily="34" charset="-120"/>
              </a:rPr>
              <a:t>Vault / PAM</a:t>
            </a:r>
            <a:endParaRPr lang="en-US" sz="1300" dirty="0"/>
          </a:p>
        </p:txBody>
      </p:sp>
      <p:sp>
        <p:nvSpPr>
          <p:cNvPr id="27" name="Text 25"/>
          <p:cNvSpPr/>
          <p:nvPr/>
        </p:nvSpPr>
        <p:spPr>
          <a:xfrm>
            <a:off x="3246120" y="3767328"/>
            <a:ext cx="2606040" cy="694944"/>
          </a:xfrm>
          <a:prstGeom prst="rect">
            <a:avLst/>
          </a:prstGeom>
          <a:noFill/>
          <a:ln/>
        </p:spPr>
        <p:txBody>
          <a:bodyPr wrap="square" lIns="0" tIns="0" rIns="0" bIns="0" rtlCol="0" anchor="ctr"/>
          <a:lstStyle/>
          <a:p>
            <a:pPr marL="0" indent="0">
              <a:buNone/>
            </a:pPr>
            <a:r>
              <a:rPr lang="en-US" sz="1100" dirty="0">
                <a:solidFill>
                  <a:srgbClr val="F0F6FC"/>
                </a:solidFill>
                <a:latin typeface="Calibri" pitchFamily="34" charset="0"/>
                <a:ea typeface="Calibri" pitchFamily="34" charset="-122"/>
                <a:cs typeface="Calibri" pitchFamily="34" charset="-120"/>
              </a:rPr>
              <a:t>Privileged Access Management to limit lateral movement after a breach.</a:t>
            </a:r>
            <a:endParaRPr lang="en-US" sz="1100" dirty="0"/>
          </a:p>
        </p:txBody>
      </p:sp>
      <p:sp>
        <p:nvSpPr>
          <p:cNvPr id="28" name="Shape 26"/>
          <p:cNvSpPr/>
          <p:nvPr/>
        </p:nvSpPr>
        <p:spPr>
          <a:xfrm>
            <a:off x="6080760" y="3291840"/>
            <a:ext cx="2788920" cy="1216152"/>
          </a:xfrm>
          <a:prstGeom prst="rect">
            <a:avLst/>
          </a:prstGeom>
          <a:solidFill>
            <a:srgbClr val="161B22"/>
          </a:solidFill>
          <a:ln/>
        </p:spPr>
        <p:txBody>
          <a:bodyPr/>
          <a:lstStyle/>
          <a:p>
            <a:endParaRPr lang="en-IN"/>
          </a:p>
        </p:txBody>
      </p:sp>
      <p:sp>
        <p:nvSpPr>
          <p:cNvPr id="29" name="Shape 27"/>
          <p:cNvSpPr/>
          <p:nvPr/>
        </p:nvSpPr>
        <p:spPr>
          <a:xfrm>
            <a:off x="6080760" y="3291840"/>
            <a:ext cx="2788920" cy="54864"/>
          </a:xfrm>
          <a:prstGeom prst="rect">
            <a:avLst/>
          </a:prstGeom>
          <a:solidFill>
            <a:srgbClr val="06D6A0"/>
          </a:solidFill>
          <a:ln/>
        </p:spPr>
        <p:txBody>
          <a:bodyPr/>
          <a:lstStyle/>
          <a:p>
            <a:endParaRPr lang="en-IN"/>
          </a:p>
        </p:txBody>
      </p:sp>
      <p:sp>
        <p:nvSpPr>
          <p:cNvPr id="30" name="Text 28"/>
          <p:cNvSpPr/>
          <p:nvPr/>
        </p:nvSpPr>
        <p:spPr>
          <a:xfrm>
            <a:off x="6172200" y="3383280"/>
            <a:ext cx="2606040" cy="365760"/>
          </a:xfrm>
          <a:prstGeom prst="rect">
            <a:avLst/>
          </a:prstGeom>
          <a:noFill/>
          <a:ln/>
        </p:spPr>
        <p:txBody>
          <a:bodyPr wrap="square" lIns="0" tIns="0" rIns="0" bIns="0" rtlCol="0" anchor="ctr"/>
          <a:lstStyle/>
          <a:p>
            <a:pPr marL="0" indent="0">
              <a:buNone/>
            </a:pPr>
            <a:r>
              <a:rPr lang="en-US" sz="1300" b="1" dirty="0">
                <a:solidFill>
                  <a:srgbClr val="06D6A0"/>
                </a:solidFill>
                <a:latin typeface="Arial Black" pitchFamily="34" charset="0"/>
                <a:ea typeface="Arial Black" pitchFamily="34" charset="-122"/>
                <a:cs typeface="Arial Black" pitchFamily="34" charset="-120"/>
              </a:rPr>
              <a:t>Zero Trust</a:t>
            </a:r>
            <a:endParaRPr lang="en-US" sz="1300" dirty="0"/>
          </a:p>
        </p:txBody>
      </p:sp>
      <p:sp>
        <p:nvSpPr>
          <p:cNvPr id="31" name="Text 29"/>
          <p:cNvSpPr/>
          <p:nvPr/>
        </p:nvSpPr>
        <p:spPr>
          <a:xfrm>
            <a:off x="6172200" y="3767328"/>
            <a:ext cx="2606040" cy="694944"/>
          </a:xfrm>
          <a:prstGeom prst="rect">
            <a:avLst/>
          </a:prstGeom>
          <a:noFill/>
          <a:ln/>
        </p:spPr>
        <p:txBody>
          <a:bodyPr wrap="square" lIns="0" tIns="0" rIns="0" bIns="0" rtlCol="0" anchor="ctr"/>
          <a:lstStyle/>
          <a:p>
            <a:pPr marL="0" indent="0">
              <a:buNone/>
            </a:pPr>
            <a:r>
              <a:rPr lang="en-US" sz="1100" dirty="0">
                <a:solidFill>
                  <a:srgbClr val="F0F6FC"/>
                </a:solidFill>
                <a:latin typeface="Calibri" pitchFamily="34" charset="0"/>
                <a:ea typeface="Calibri" pitchFamily="34" charset="-122"/>
                <a:cs typeface="Calibri" pitchFamily="34" charset="-120"/>
              </a:rPr>
              <a:t>Architecture that assumes no user or device is trusted by default.</a:t>
            </a:r>
            <a:endParaRPr lang="en-US" sz="1100" dirty="0"/>
          </a:p>
        </p:txBody>
      </p:sp>
      <p:sp>
        <p:nvSpPr>
          <p:cNvPr id="32" name="Shape 30"/>
          <p:cNvSpPr/>
          <p:nvPr/>
        </p:nvSpPr>
        <p:spPr>
          <a:xfrm>
            <a:off x="0" y="4617720"/>
            <a:ext cx="9144000" cy="525780"/>
          </a:xfrm>
          <a:prstGeom prst="rect">
            <a:avLst/>
          </a:prstGeom>
          <a:solidFill>
            <a:srgbClr val="0A0F16"/>
          </a:solidFill>
          <a:ln/>
        </p:spPr>
        <p:txBody>
          <a:bodyPr/>
          <a:lstStyle/>
          <a:p>
            <a:endParaRPr lang="en-IN"/>
          </a:p>
        </p:txBody>
      </p:sp>
      <p:sp>
        <p:nvSpPr>
          <p:cNvPr id="33" name="Shape 31"/>
          <p:cNvSpPr/>
          <p:nvPr/>
        </p:nvSpPr>
        <p:spPr>
          <a:xfrm>
            <a:off x="0" y="4617720"/>
            <a:ext cx="9144000" cy="36576"/>
          </a:xfrm>
          <a:prstGeom prst="rect">
            <a:avLst/>
          </a:prstGeom>
          <a:solidFill>
            <a:srgbClr val="06D6A0"/>
          </a:solidFill>
          <a:ln/>
        </p:spPr>
        <p:txBody>
          <a:bodyPr/>
          <a:lstStyle/>
          <a:p>
            <a:endParaRPr lang="en-IN"/>
          </a:p>
        </p:txBody>
      </p:sp>
      <p:sp>
        <p:nvSpPr>
          <p:cNvPr id="34" name="Text 32"/>
          <p:cNvSpPr/>
          <p:nvPr/>
        </p:nvSpPr>
        <p:spPr>
          <a:xfrm>
            <a:off x="182880" y="4654296"/>
            <a:ext cx="8778240" cy="457200"/>
          </a:xfrm>
          <a:prstGeom prst="rect">
            <a:avLst/>
          </a:prstGeom>
          <a:noFill/>
          <a:ln/>
        </p:spPr>
        <p:txBody>
          <a:bodyPr wrap="square" lIns="0" tIns="0" rIns="0" bIns="0" rtlCol="0" anchor="ctr"/>
          <a:lstStyle/>
          <a:p>
            <a:pPr marL="0" indent="0">
              <a:buNone/>
            </a:pPr>
            <a:r>
              <a:rPr lang="en-US" sz="1050" i="1" dirty="0">
                <a:solidFill>
                  <a:srgbClr val="8B949E"/>
                </a:solidFill>
                <a:latin typeface="Calibri" pitchFamily="34" charset="0"/>
                <a:ea typeface="Calibri" pitchFamily="34" charset="-122"/>
                <a:cs typeface="Calibri" pitchFamily="34" charset="-120"/>
              </a:rPr>
              <a:t>📋  Effective defense requires a layered toolset. SIEM platforms aggregate logs, EDR tools protect endpoints, and frameworks like MITRE ATT&amp;CK provide defenders with a shared language to map threats and close security gaps systematically.</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E2A38"/>
          </a:solidFill>
          <a:ln/>
        </p:spPr>
        <p:txBody>
          <a:bodyPr/>
          <a:lstStyle/>
          <a:p>
            <a:endParaRPr lang="en-IN"/>
          </a:p>
        </p:txBody>
      </p:sp>
      <p:sp>
        <p:nvSpPr>
          <p:cNvPr id="3" name="Text 1"/>
          <p:cNvSpPr/>
          <p:nvPr/>
        </p:nvSpPr>
        <p:spPr>
          <a:xfrm>
            <a:off x="274320" y="0"/>
            <a:ext cx="8595360" cy="566928"/>
          </a:xfrm>
          <a:prstGeom prst="rect">
            <a:avLst/>
          </a:prstGeom>
          <a:noFill/>
          <a:ln/>
        </p:spPr>
        <p:txBody>
          <a:bodyPr wrap="square" lIns="0" tIns="0" rIns="0" bIns="0" rtlCol="0" anchor="ctr"/>
          <a:lstStyle/>
          <a:p>
            <a:pPr marL="0" indent="0" algn="ctr">
              <a:buNone/>
            </a:pPr>
            <a:r>
              <a:rPr lang="en-US" sz="3000" b="1" dirty="0">
                <a:solidFill>
                  <a:srgbClr val="A855F7"/>
                </a:solidFill>
                <a:latin typeface="Arial Black" pitchFamily="34" charset="0"/>
                <a:ea typeface="Arial Black" pitchFamily="34" charset="-122"/>
                <a:cs typeface="Arial Black" pitchFamily="34" charset="-120"/>
              </a:rPr>
              <a:t>PURPLE TEAM</a:t>
            </a:r>
            <a:endParaRPr lang="en-US" sz="3000" dirty="0"/>
          </a:p>
        </p:txBody>
      </p:sp>
      <p:sp>
        <p:nvSpPr>
          <p:cNvPr id="4" name="Text 2"/>
          <p:cNvSpPr/>
          <p:nvPr/>
        </p:nvSpPr>
        <p:spPr>
          <a:xfrm>
            <a:off x="274320" y="548640"/>
            <a:ext cx="8595360" cy="320040"/>
          </a:xfrm>
          <a:prstGeom prst="rect">
            <a:avLst/>
          </a:prstGeom>
          <a:noFill/>
          <a:ln/>
        </p:spPr>
        <p:txBody>
          <a:bodyPr wrap="square" lIns="0" tIns="0" rIns="0" bIns="0" rtlCol="0" anchor="ctr"/>
          <a:lstStyle/>
          <a:p>
            <a:pPr marL="0" indent="0" algn="ctr">
              <a:buNone/>
            </a:pPr>
            <a:r>
              <a:rPr lang="en-US" sz="1400" i="1" dirty="0">
                <a:solidFill>
                  <a:srgbClr val="8B949E"/>
                </a:solidFill>
                <a:latin typeface="Calibri" pitchFamily="34" charset="0"/>
                <a:ea typeface="Calibri" pitchFamily="34" charset="-122"/>
                <a:cs typeface="Calibri" pitchFamily="34" charset="-120"/>
              </a:rPr>
              <a:t>Offensive + Defensive = Stronger Together</a:t>
            </a:r>
            <a:endParaRPr lang="en-US" sz="1400" dirty="0"/>
          </a:p>
        </p:txBody>
      </p:sp>
      <p:sp>
        <p:nvSpPr>
          <p:cNvPr id="5" name="Shape 3"/>
          <p:cNvSpPr/>
          <p:nvPr/>
        </p:nvSpPr>
        <p:spPr>
          <a:xfrm>
            <a:off x="274320" y="960120"/>
            <a:ext cx="2560320" cy="3520440"/>
          </a:xfrm>
          <a:prstGeom prst="rect">
            <a:avLst/>
          </a:prstGeom>
          <a:solidFill>
            <a:srgbClr val="161B22"/>
          </a:solidFill>
          <a:ln/>
        </p:spPr>
        <p:txBody>
          <a:bodyPr/>
          <a:lstStyle/>
          <a:p>
            <a:endParaRPr lang="en-IN"/>
          </a:p>
        </p:txBody>
      </p:sp>
      <p:sp>
        <p:nvSpPr>
          <p:cNvPr id="6" name="Shape 4"/>
          <p:cNvSpPr/>
          <p:nvPr/>
        </p:nvSpPr>
        <p:spPr>
          <a:xfrm>
            <a:off x="274320" y="960120"/>
            <a:ext cx="2560320" cy="64008"/>
          </a:xfrm>
          <a:prstGeom prst="rect">
            <a:avLst/>
          </a:prstGeom>
          <a:solidFill>
            <a:srgbClr val="E63946"/>
          </a:solidFill>
          <a:ln/>
        </p:spPr>
        <p:txBody>
          <a:bodyPr/>
          <a:lstStyle/>
          <a:p>
            <a:endParaRPr lang="en-IN"/>
          </a:p>
        </p:txBody>
      </p:sp>
      <p:pic>
        <p:nvPicPr>
          <p:cNvPr id="7" name="Image 0" descr="preencoded.png"/>
          <p:cNvPicPr>
            <a:picLocks noChangeAspect="1"/>
          </p:cNvPicPr>
          <p:nvPr/>
        </p:nvPicPr>
        <p:blipFill>
          <a:blip r:embed="rId3"/>
          <a:stretch>
            <a:fillRect/>
          </a:stretch>
        </p:blipFill>
        <p:spPr>
          <a:xfrm>
            <a:off x="822960" y="1115568"/>
            <a:ext cx="566928" cy="566928"/>
          </a:xfrm>
          <a:prstGeom prst="rect">
            <a:avLst/>
          </a:prstGeom>
        </p:spPr>
      </p:pic>
      <p:sp>
        <p:nvSpPr>
          <p:cNvPr id="8" name="Text 5"/>
          <p:cNvSpPr/>
          <p:nvPr/>
        </p:nvSpPr>
        <p:spPr>
          <a:xfrm>
            <a:off x="320040" y="1783080"/>
            <a:ext cx="2468880" cy="384048"/>
          </a:xfrm>
          <a:prstGeom prst="rect">
            <a:avLst/>
          </a:prstGeom>
          <a:noFill/>
          <a:ln/>
        </p:spPr>
        <p:txBody>
          <a:bodyPr wrap="square" lIns="0" tIns="0" rIns="0" bIns="0" rtlCol="0" anchor="ctr"/>
          <a:lstStyle/>
          <a:p>
            <a:pPr marL="0" indent="0" algn="ctr">
              <a:buNone/>
            </a:pPr>
            <a:r>
              <a:rPr lang="en-US" sz="1600" b="1" dirty="0">
                <a:solidFill>
                  <a:srgbClr val="E63946"/>
                </a:solidFill>
                <a:latin typeface="Arial Black" pitchFamily="34" charset="0"/>
                <a:ea typeface="Arial Black" pitchFamily="34" charset="-122"/>
                <a:cs typeface="Arial Black" pitchFamily="34" charset="-120"/>
              </a:rPr>
              <a:t>RED TEAM</a:t>
            </a:r>
            <a:endParaRPr lang="en-US" sz="1600" dirty="0"/>
          </a:p>
        </p:txBody>
      </p:sp>
      <p:sp>
        <p:nvSpPr>
          <p:cNvPr id="9" name="Text 6"/>
          <p:cNvSpPr/>
          <p:nvPr/>
        </p:nvSpPr>
        <p:spPr>
          <a:xfrm>
            <a:off x="320040" y="2130552"/>
            <a:ext cx="2468880" cy="292608"/>
          </a:xfrm>
          <a:prstGeom prst="rect">
            <a:avLst/>
          </a:prstGeom>
          <a:noFill/>
          <a:ln/>
        </p:spPr>
        <p:txBody>
          <a:bodyPr wrap="square" lIns="0" tIns="0" rIns="0" bIns="0" rtlCol="0" anchor="ctr"/>
          <a:lstStyle/>
          <a:p>
            <a:pPr marL="0" indent="0" algn="ctr">
              <a:buNone/>
            </a:pPr>
            <a:r>
              <a:rPr lang="en-US" sz="1200" dirty="0">
                <a:solidFill>
                  <a:srgbClr val="8B949E"/>
                </a:solidFill>
                <a:latin typeface="Calibri" pitchFamily="34" charset="0"/>
                <a:ea typeface="Calibri" pitchFamily="34" charset="-122"/>
                <a:cs typeface="Calibri" pitchFamily="34" charset="-120"/>
              </a:rPr>
              <a:t>Offensive</a:t>
            </a:r>
            <a:endParaRPr lang="en-US" sz="1200" dirty="0"/>
          </a:p>
        </p:txBody>
      </p:sp>
      <p:sp>
        <p:nvSpPr>
          <p:cNvPr id="10" name="Text 7"/>
          <p:cNvSpPr/>
          <p:nvPr/>
        </p:nvSpPr>
        <p:spPr>
          <a:xfrm>
            <a:off x="411480" y="2514600"/>
            <a:ext cx="2286000" cy="365760"/>
          </a:xfrm>
          <a:prstGeom prst="rect">
            <a:avLst/>
          </a:prstGeom>
          <a:noFill/>
          <a:ln/>
        </p:spPr>
        <p:txBody>
          <a:bodyPr wrap="square" lIns="0" tIns="0" rIns="0" bIns="0" rtlCol="0" anchor="ctr"/>
          <a:lstStyle/>
          <a:p>
            <a:pPr marL="0" indent="0">
              <a:buNone/>
            </a:pPr>
            <a:r>
              <a:rPr lang="en-US" sz="1200" dirty="0">
                <a:solidFill>
                  <a:srgbClr val="F0F6FC"/>
                </a:solidFill>
                <a:latin typeface="Calibri" pitchFamily="34" charset="0"/>
                <a:ea typeface="Calibri" pitchFamily="34" charset="-122"/>
                <a:cs typeface="Calibri" pitchFamily="34" charset="-120"/>
              </a:rPr>
              <a:t>• Simulate attacks</a:t>
            </a:r>
            <a:endParaRPr lang="en-US" sz="1200" dirty="0"/>
          </a:p>
        </p:txBody>
      </p:sp>
      <p:sp>
        <p:nvSpPr>
          <p:cNvPr id="11" name="Text 8"/>
          <p:cNvSpPr/>
          <p:nvPr/>
        </p:nvSpPr>
        <p:spPr>
          <a:xfrm>
            <a:off x="411480" y="2953512"/>
            <a:ext cx="2286000" cy="365760"/>
          </a:xfrm>
          <a:prstGeom prst="rect">
            <a:avLst/>
          </a:prstGeom>
          <a:noFill/>
          <a:ln/>
        </p:spPr>
        <p:txBody>
          <a:bodyPr wrap="square" lIns="0" tIns="0" rIns="0" bIns="0" rtlCol="0" anchor="ctr"/>
          <a:lstStyle/>
          <a:p>
            <a:pPr marL="0" indent="0">
              <a:buNone/>
            </a:pPr>
            <a:r>
              <a:rPr lang="en-US" sz="1200" dirty="0">
                <a:solidFill>
                  <a:srgbClr val="F0F6FC"/>
                </a:solidFill>
                <a:latin typeface="Calibri" pitchFamily="34" charset="0"/>
                <a:ea typeface="Calibri" pitchFamily="34" charset="-122"/>
                <a:cs typeface="Calibri" pitchFamily="34" charset="-120"/>
              </a:rPr>
              <a:t>• Find vulnerabilities</a:t>
            </a:r>
            <a:endParaRPr lang="en-US" sz="1200" dirty="0"/>
          </a:p>
        </p:txBody>
      </p:sp>
      <p:sp>
        <p:nvSpPr>
          <p:cNvPr id="12" name="Text 9"/>
          <p:cNvSpPr/>
          <p:nvPr/>
        </p:nvSpPr>
        <p:spPr>
          <a:xfrm>
            <a:off x="411480" y="3392424"/>
            <a:ext cx="2286000" cy="365760"/>
          </a:xfrm>
          <a:prstGeom prst="rect">
            <a:avLst/>
          </a:prstGeom>
          <a:noFill/>
          <a:ln/>
        </p:spPr>
        <p:txBody>
          <a:bodyPr wrap="square" lIns="0" tIns="0" rIns="0" bIns="0" rtlCol="0" anchor="ctr"/>
          <a:lstStyle/>
          <a:p>
            <a:pPr marL="0" indent="0">
              <a:buNone/>
            </a:pPr>
            <a:r>
              <a:rPr lang="en-US" sz="1200" dirty="0">
                <a:solidFill>
                  <a:srgbClr val="F0F6FC"/>
                </a:solidFill>
                <a:latin typeface="Calibri" pitchFamily="34" charset="0"/>
                <a:ea typeface="Calibri" pitchFamily="34" charset="-122"/>
                <a:cs typeface="Calibri" pitchFamily="34" charset="-120"/>
              </a:rPr>
              <a:t>• Test defenses</a:t>
            </a:r>
            <a:endParaRPr lang="en-US" sz="1200" dirty="0"/>
          </a:p>
        </p:txBody>
      </p:sp>
      <p:sp>
        <p:nvSpPr>
          <p:cNvPr id="13" name="Text 10"/>
          <p:cNvSpPr/>
          <p:nvPr/>
        </p:nvSpPr>
        <p:spPr>
          <a:xfrm>
            <a:off x="411480" y="3831336"/>
            <a:ext cx="2286000" cy="365760"/>
          </a:xfrm>
          <a:prstGeom prst="rect">
            <a:avLst/>
          </a:prstGeom>
          <a:noFill/>
          <a:ln/>
        </p:spPr>
        <p:txBody>
          <a:bodyPr wrap="square" lIns="0" tIns="0" rIns="0" bIns="0" rtlCol="0" anchor="ctr"/>
          <a:lstStyle/>
          <a:p>
            <a:pPr marL="0" indent="0">
              <a:buNone/>
            </a:pPr>
            <a:r>
              <a:rPr lang="en-US" sz="1200" dirty="0">
                <a:solidFill>
                  <a:srgbClr val="F0F6FC"/>
                </a:solidFill>
                <a:latin typeface="Calibri" pitchFamily="34" charset="0"/>
                <a:ea typeface="Calibri" pitchFamily="34" charset="-122"/>
                <a:cs typeface="Calibri" pitchFamily="34" charset="-120"/>
              </a:rPr>
              <a:t>• Report findings</a:t>
            </a:r>
            <a:endParaRPr lang="en-US" sz="1200" dirty="0"/>
          </a:p>
        </p:txBody>
      </p:sp>
      <p:sp>
        <p:nvSpPr>
          <p:cNvPr id="14" name="Shape 11"/>
          <p:cNvSpPr/>
          <p:nvPr/>
        </p:nvSpPr>
        <p:spPr>
          <a:xfrm>
            <a:off x="2926080" y="2011680"/>
            <a:ext cx="685800" cy="0"/>
          </a:xfrm>
          <a:prstGeom prst="line">
            <a:avLst/>
          </a:prstGeom>
          <a:noFill/>
          <a:ln w="31750">
            <a:solidFill>
              <a:srgbClr val="E63946"/>
            </a:solidFill>
            <a:prstDash val="dash"/>
          </a:ln>
        </p:spPr>
        <p:txBody>
          <a:bodyPr/>
          <a:lstStyle/>
          <a:p>
            <a:endParaRPr lang="en-IN"/>
          </a:p>
        </p:txBody>
      </p:sp>
      <p:sp>
        <p:nvSpPr>
          <p:cNvPr id="15" name="Shape 12"/>
          <p:cNvSpPr/>
          <p:nvPr/>
        </p:nvSpPr>
        <p:spPr>
          <a:xfrm>
            <a:off x="2926080" y="3108960"/>
            <a:ext cx="685800" cy="0"/>
          </a:xfrm>
          <a:prstGeom prst="line">
            <a:avLst/>
          </a:prstGeom>
          <a:noFill/>
          <a:ln w="31750">
            <a:solidFill>
              <a:srgbClr val="06D6A0"/>
            </a:solidFill>
            <a:prstDash val="dash"/>
          </a:ln>
        </p:spPr>
        <p:txBody>
          <a:bodyPr/>
          <a:lstStyle/>
          <a:p>
            <a:endParaRPr lang="en-IN"/>
          </a:p>
        </p:txBody>
      </p:sp>
      <p:sp>
        <p:nvSpPr>
          <p:cNvPr id="16" name="Shape 13"/>
          <p:cNvSpPr/>
          <p:nvPr/>
        </p:nvSpPr>
        <p:spPr>
          <a:xfrm>
            <a:off x="3657600" y="960120"/>
            <a:ext cx="1828800" cy="3520440"/>
          </a:xfrm>
          <a:prstGeom prst="rect">
            <a:avLst/>
          </a:prstGeom>
          <a:solidFill>
            <a:srgbClr val="1A0A2E"/>
          </a:solidFill>
          <a:ln/>
        </p:spPr>
        <p:txBody>
          <a:bodyPr/>
          <a:lstStyle/>
          <a:p>
            <a:endParaRPr lang="en-IN"/>
          </a:p>
        </p:txBody>
      </p:sp>
      <p:sp>
        <p:nvSpPr>
          <p:cNvPr id="17" name="Shape 14"/>
          <p:cNvSpPr/>
          <p:nvPr/>
        </p:nvSpPr>
        <p:spPr>
          <a:xfrm>
            <a:off x="3657600" y="960120"/>
            <a:ext cx="1828800" cy="64008"/>
          </a:xfrm>
          <a:prstGeom prst="rect">
            <a:avLst/>
          </a:prstGeom>
          <a:solidFill>
            <a:srgbClr val="A855F7"/>
          </a:solidFill>
          <a:ln/>
        </p:spPr>
        <p:txBody>
          <a:bodyPr/>
          <a:lstStyle/>
          <a:p>
            <a:endParaRPr lang="en-IN"/>
          </a:p>
        </p:txBody>
      </p:sp>
      <p:sp>
        <p:nvSpPr>
          <p:cNvPr id="18" name="Text 15"/>
          <p:cNvSpPr/>
          <p:nvPr/>
        </p:nvSpPr>
        <p:spPr>
          <a:xfrm>
            <a:off x="3703320" y="1325880"/>
            <a:ext cx="1737360" cy="914400"/>
          </a:xfrm>
          <a:prstGeom prst="rect">
            <a:avLst/>
          </a:prstGeom>
          <a:noFill/>
          <a:ln/>
        </p:spPr>
        <p:txBody>
          <a:bodyPr wrap="square" lIns="0" tIns="0" rIns="0" bIns="0" rtlCol="0" anchor="ctr"/>
          <a:lstStyle/>
          <a:p>
            <a:pPr marL="0" indent="0" algn="ctr">
              <a:buNone/>
            </a:pPr>
            <a:r>
              <a:rPr lang="en-US" sz="2000" b="1" dirty="0">
                <a:solidFill>
                  <a:srgbClr val="A855F7"/>
                </a:solidFill>
                <a:latin typeface="Arial Black" pitchFamily="34" charset="0"/>
                <a:ea typeface="Arial Black" pitchFamily="34" charset="-122"/>
                <a:cs typeface="Arial Black" pitchFamily="34" charset="-120"/>
              </a:rPr>
              <a:t>PURPLE</a:t>
            </a:r>
            <a:endParaRPr lang="en-US" sz="2000" dirty="0"/>
          </a:p>
          <a:p>
            <a:pPr marL="0" indent="0" algn="ctr">
              <a:buNone/>
            </a:pPr>
            <a:r>
              <a:rPr lang="en-US" sz="2000" b="1" dirty="0">
                <a:solidFill>
                  <a:srgbClr val="A855F7"/>
                </a:solidFill>
                <a:latin typeface="Arial Black" pitchFamily="34" charset="0"/>
                <a:ea typeface="Arial Black" pitchFamily="34" charset="-122"/>
                <a:cs typeface="Arial Black" pitchFamily="34" charset="-120"/>
              </a:rPr>
              <a:t>TEAM</a:t>
            </a:r>
            <a:endParaRPr lang="en-US" sz="2000" dirty="0"/>
          </a:p>
        </p:txBody>
      </p:sp>
      <p:sp>
        <p:nvSpPr>
          <p:cNvPr id="19" name="Text 16"/>
          <p:cNvSpPr/>
          <p:nvPr/>
        </p:nvSpPr>
        <p:spPr>
          <a:xfrm>
            <a:off x="3703320" y="2377440"/>
            <a:ext cx="1737360" cy="411480"/>
          </a:xfrm>
          <a:prstGeom prst="rect">
            <a:avLst/>
          </a:prstGeom>
          <a:noFill/>
          <a:ln/>
        </p:spPr>
        <p:txBody>
          <a:bodyPr wrap="square" lIns="0" tIns="0" rIns="0" bIns="0" rtlCol="0" anchor="ctr"/>
          <a:lstStyle/>
          <a:p>
            <a:pPr marL="0" indent="0" algn="ctr">
              <a:buNone/>
            </a:pPr>
            <a:r>
              <a:rPr lang="en-US" sz="1100" dirty="0">
                <a:solidFill>
                  <a:srgbClr val="F0F6FC"/>
                </a:solidFill>
                <a:latin typeface="Calibri" pitchFamily="34" charset="0"/>
                <a:ea typeface="Calibri" pitchFamily="34" charset="-122"/>
                <a:cs typeface="Calibri" pitchFamily="34" charset="-120"/>
              </a:rPr>
              <a:t>↔ Share findings</a:t>
            </a:r>
            <a:endParaRPr lang="en-US" sz="1100" dirty="0"/>
          </a:p>
        </p:txBody>
      </p:sp>
      <p:sp>
        <p:nvSpPr>
          <p:cNvPr id="20" name="Text 17"/>
          <p:cNvSpPr/>
          <p:nvPr/>
        </p:nvSpPr>
        <p:spPr>
          <a:xfrm>
            <a:off x="3703320" y="2852928"/>
            <a:ext cx="1737360" cy="411480"/>
          </a:xfrm>
          <a:prstGeom prst="rect">
            <a:avLst/>
          </a:prstGeom>
          <a:noFill/>
          <a:ln/>
        </p:spPr>
        <p:txBody>
          <a:bodyPr wrap="square" lIns="0" tIns="0" rIns="0" bIns="0" rtlCol="0" anchor="ctr"/>
          <a:lstStyle/>
          <a:p>
            <a:pPr marL="0" indent="0" algn="ctr">
              <a:buNone/>
            </a:pPr>
            <a:r>
              <a:rPr lang="en-US" sz="1100" dirty="0">
                <a:solidFill>
                  <a:srgbClr val="F0F6FC"/>
                </a:solidFill>
                <a:latin typeface="Calibri" pitchFamily="34" charset="0"/>
                <a:ea typeface="Calibri" pitchFamily="34" charset="-122"/>
                <a:cs typeface="Calibri" pitchFamily="34" charset="-120"/>
              </a:rPr>
              <a:t>↔ Close gaps</a:t>
            </a:r>
            <a:endParaRPr lang="en-US" sz="1100" dirty="0"/>
          </a:p>
        </p:txBody>
      </p:sp>
      <p:sp>
        <p:nvSpPr>
          <p:cNvPr id="21" name="Text 18"/>
          <p:cNvSpPr/>
          <p:nvPr/>
        </p:nvSpPr>
        <p:spPr>
          <a:xfrm>
            <a:off x="3703320" y="3328416"/>
            <a:ext cx="1737360" cy="411480"/>
          </a:xfrm>
          <a:prstGeom prst="rect">
            <a:avLst/>
          </a:prstGeom>
          <a:noFill/>
          <a:ln/>
        </p:spPr>
        <p:txBody>
          <a:bodyPr wrap="square" lIns="0" tIns="0" rIns="0" bIns="0" rtlCol="0" anchor="ctr"/>
          <a:lstStyle/>
          <a:p>
            <a:pPr marL="0" indent="0" algn="ctr">
              <a:buNone/>
            </a:pPr>
            <a:r>
              <a:rPr lang="en-US" sz="1100" dirty="0">
                <a:solidFill>
                  <a:srgbClr val="F0F6FC"/>
                </a:solidFill>
                <a:latin typeface="Calibri" pitchFamily="34" charset="0"/>
                <a:ea typeface="Calibri" pitchFamily="34" charset="-122"/>
                <a:cs typeface="Calibri" pitchFamily="34" charset="-120"/>
              </a:rPr>
              <a:t>↔ Build resilience</a:t>
            </a:r>
            <a:endParaRPr lang="en-US" sz="1100" dirty="0"/>
          </a:p>
        </p:txBody>
      </p:sp>
      <p:sp>
        <p:nvSpPr>
          <p:cNvPr id="22" name="Text 19"/>
          <p:cNvSpPr/>
          <p:nvPr/>
        </p:nvSpPr>
        <p:spPr>
          <a:xfrm>
            <a:off x="3703320" y="3803904"/>
            <a:ext cx="1737360" cy="411480"/>
          </a:xfrm>
          <a:prstGeom prst="rect">
            <a:avLst/>
          </a:prstGeom>
          <a:noFill/>
          <a:ln/>
        </p:spPr>
        <p:txBody>
          <a:bodyPr wrap="square" lIns="0" tIns="0" rIns="0" bIns="0" rtlCol="0" anchor="ctr"/>
          <a:lstStyle/>
          <a:p>
            <a:pPr marL="0" indent="0" algn="ctr">
              <a:buNone/>
            </a:pPr>
            <a:r>
              <a:rPr lang="en-US" sz="1100" dirty="0">
                <a:solidFill>
                  <a:srgbClr val="F0F6FC"/>
                </a:solidFill>
                <a:latin typeface="Calibri" pitchFamily="34" charset="0"/>
                <a:ea typeface="Calibri" pitchFamily="34" charset="-122"/>
                <a:cs typeface="Calibri" pitchFamily="34" charset="-120"/>
              </a:rPr>
              <a:t>↔ Continuous cycle</a:t>
            </a:r>
            <a:endParaRPr lang="en-US" sz="1100" dirty="0"/>
          </a:p>
        </p:txBody>
      </p:sp>
      <p:sp>
        <p:nvSpPr>
          <p:cNvPr id="23" name="Shape 20"/>
          <p:cNvSpPr/>
          <p:nvPr/>
        </p:nvSpPr>
        <p:spPr>
          <a:xfrm>
            <a:off x="5532120" y="2011680"/>
            <a:ext cx="685800" cy="0"/>
          </a:xfrm>
          <a:prstGeom prst="line">
            <a:avLst/>
          </a:prstGeom>
          <a:noFill/>
          <a:ln w="31750">
            <a:solidFill>
              <a:srgbClr val="06D6A0"/>
            </a:solidFill>
            <a:prstDash val="dash"/>
          </a:ln>
        </p:spPr>
        <p:txBody>
          <a:bodyPr/>
          <a:lstStyle/>
          <a:p>
            <a:endParaRPr lang="en-IN"/>
          </a:p>
        </p:txBody>
      </p:sp>
      <p:sp>
        <p:nvSpPr>
          <p:cNvPr id="24" name="Shape 21"/>
          <p:cNvSpPr/>
          <p:nvPr/>
        </p:nvSpPr>
        <p:spPr>
          <a:xfrm>
            <a:off x="5532120" y="3108960"/>
            <a:ext cx="685800" cy="0"/>
          </a:xfrm>
          <a:prstGeom prst="line">
            <a:avLst/>
          </a:prstGeom>
          <a:noFill/>
          <a:ln w="31750">
            <a:solidFill>
              <a:srgbClr val="E63946"/>
            </a:solidFill>
            <a:prstDash val="dash"/>
          </a:ln>
        </p:spPr>
        <p:txBody>
          <a:bodyPr/>
          <a:lstStyle/>
          <a:p>
            <a:endParaRPr lang="en-IN"/>
          </a:p>
        </p:txBody>
      </p:sp>
      <p:sp>
        <p:nvSpPr>
          <p:cNvPr id="25" name="Shape 22"/>
          <p:cNvSpPr/>
          <p:nvPr/>
        </p:nvSpPr>
        <p:spPr>
          <a:xfrm>
            <a:off x="6309360" y="960120"/>
            <a:ext cx="2560320" cy="3520440"/>
          </a:xfrm>
          <a:prstGeom prst="rect">
            <a:avLst/>
          </a:prstGeom>
          <a:solidFill>
            <a:srgbClr val="161B22"/>
          </a:solidFill>
          <a:ln/>
        </p:spPr>
        <p:txBody>
          <a:bodyPr/>
          <a:lstStyle/>
          <a:p>
            <a:endParaRPr lang="en-IN"/>
          </a:p>
        </p:txBody>
      </p:sp>
      <p:sp>
        <p:nvSpPr>
          <p:cNvPr id="26" name="Shape 23"/>
          <p:cNvSpPr/>
          <p:nvPr/>
        </p:nvSpPr>
        <p:spPr>
          <a:xfrm>
            <a:off x="6309360" y="960120"/>
            <a:ext cx="2560320" cy="64008"/>
          </a:xfrm>
          <a:prstGeom prst="rect">
            <a:avLst/>
          </a:prstGeom>
          <a:solidFill>
            <a:srgbClr val="06D6A0"/>
          </a:solidFill>
          <a:ln/>
        </p:spPr>
        <p:txBody>
          <a:bodyPr/>
          <a:lstStyle/>
          <a:p>
            <a:endParaRPr lang="en-IN"/>
          </a:p>
        </p:txBody>
      </p:sp>
      <p:pic>
        <p:nvPicPr>
          <p:cNvPr id="27" name="Image 1" descr="preencoded.png"/>
          <p:cNvPicPr>
            <a:picLocks noChangeAspect="1"/>
          </p:cNvPicPr>
          <p:nvPr/>
        </p:nvPicPr>
        <p:blipFill>
          <a:blip r:embed="rId4"/>
          <a:stretch>
            <a:fillRect/>
          </a:stretch>
        </p:blipFill>
        <p:spPr>
          <a:xfrm>
            <a:off x="7287768" y="1115568"/>
            <a:ext cx="566928" cy="566928"/>
          </a:xfrm>
          <a:prstGeom prst="rect">
            <a:avLst/>
          </a:prstGeom>
        </p:spPr>
      </p:pic>
      <p:sp>
        <p:nvSpPr>
          <p:cNvPr id="28" name="Text 24"/>
          <p:cNvSpPr/>
          <p:nvPr/>
        </p:nvSpPr>
        <p:spPr>
          <a:xfrm>
            <a:off x="6355080" y="1783080"/>
            <a:ext cx="2468880" cy="384048"/>
          </a:xfrm>
          <a:prstGeom prst="rect">
            <a:avLst/>
          </a:prstGeom>
          <a:noFill/>
          <a:ln/>
        </p:spPr>
        <p:txBody>
          <a:bodyPr wrap="square" lIns="0" tIns="0" rIns="0" bIns="0" rtlCol="0" anchor="ctr"/>
          <a:lstStyle/>
          <a:p>
            <a:pPr marL="0" indent="0" algn="ctr">
              <a:buNone/>
            </a:pPr>
            <a:r>
              <a:rPr lang="en-US" sz="1600" b="1" dirty="0">
                <a:solidFill>
                  <a:srgbClr val="06D6A0"/>
                </a:solidFill>
                <a:latin typeface="Arial Black" pitchFamily="34" charset="0"/>
                <a:ea typeface="Arial Black" pitchFamily="34" charset="-122"/>
                <a:cs typeface="Arial Black" pitchFamily="34" charset="-120"/>
              </a:rPr>
              <a:t>BLUE TEAM</a:t>
            </a:r>
            <a:endParaRPr lang="en-US" sz="1600" dirty="0"/>
          </a:p>
        </p:txBody>
      </p:sp>
      <p:sp>
        <p:nvSpPr>
          <p:cNvPr id="29" name="Text 25"/>
          <p:cNvSpPr/>
          <p:nvPr/>
        </p:nvSpPr>
        <p:spPr>
          <a:xfrm>
            <a:off x="6355080" y="2130552"/>
            <a:ext cx="2468880" cy="292608"/>
          </a:xfrm>
          <a:prstGeom prst="rect">
            <a:avLst/>
          </a:prstGeom>
          <a:noFill/>
          <a:ln/>
        </p:spPr>
        <p:txBody>
          <a:bodyPr wrap="square" lIns="0" tIns="0" rIns="0" bIns="0" rtlCol="0" anchor="ctr"/>
          <a:lstStyle/>
          <a:p>
            <a:pPr marL="0" indent="0" algn="ctr">
              <a:buNone/>
            </a:pPr>
            <a:r>
              <a:rPr lang="en-US" sz="1200" dirty="0">
                <a:solidFill>
                  <a:srgbClr val="8B949E"/>
                </a:solidFill>
                <a:latin typeface="Calibri" pitchFamily="34" charset="0"/>
                <a:ea typeface="Calibri" pitchFamily="34" charset="-122"/>
                <a:cs typeface="Calibri" pitchFamily="34" charset="-120"/>
              </a:rPr>
              <a:t>Defensive</a:t>
            </a:r>
            <a:endParaRPr lang="en-US" sz="1200" dirty="0"/>
          </a:p>
        </p:txBody>
      </p:sp>
      <p:sp>
        <p:nvSpPr>
          <p:cNvPr id="30" name="Text 26"/>
          <p:cNvSpPr/>
          <p:nvPr/>
        </p:nvSpPr>
        <p:spPr>
          <a:xfrm>
            <a:off x="6446520" y="2514600"/>
            <a:ext cx="2286000" cy="365760"/>
          </a:xfrm>
          <a:prstGeom prst="rect">
            <a:avLst/>
          </a:prstGeom>
          <a:noFill/>
          <a:ln/>
        </p:spPr>
        <p:txBody>
          <a:bodyPr wrap="square" lIns="0" tIns="0" rIns="0" bIns="0" rtlCol="0" anchor="ctr"/>
          <a:lstStyle/>
          <a:p>
            <a:pPr marL="0" indent="0">
              <a:buNone/>
            </a:pPr>
            <a:r>
              <a:rPr lang="en-US" sz="1200" dirty="0">
                <a:solidFill>
                  <a:srgbClr val="F0F6FC"/>
                </a:solidFill>
                <a:latin typeface="Calibri" pitchFamily="34" charset="0"/>
                <a:ea typeface="Calibri" pitchFamily="34" charset="-122"/>
                <a:cs typeface="Calibri" pitchFamily="34" charset="-120"/>
              </a:rPr>
              <a:t>• Monitor threats</a:t>
            </a:r>
            <a:endParaRPr lang="en-US" sz="1200" dirty="0"/>
          </a:p>
        </p:txBody>
      </p:sp>
      <p:sp>
        <p:nvSpPr>
          <p:cNvPr id="31" name="Text 27"/>
          <p:cNvSpPr/>
          <p:nvPr/>
        </p:nvSpPr>
        <p:spPr>
          <a:xfrm>
            <a:off x="6446520" y="2953512"/>
            <a:ext cx="2286000" cy="365760"/>
          </a:xfrm>
          <a:prstGeom prst="rect">
            <a:avLst/>
          </a:prstGeom>
          <a:noFill/>
          <a:ln/>
        </p:spPr>
        <p:txBody>
          <a:bodyPr wrap="square" lIns="0" tIns="0" rIns="0" bIns="0" rtlCol="0" anchor="ctr"/>
          <a:lstStyle/>
          <a:p>
            <a:pPr marL="0" indent="0">
              <a:buNone/>
            </a:pPr>
            <a:r>
              <a:rPr lang="en-US" sz="1200" dirty="0">
                <a:solidFill>
                  <a:srgbClr val="F0F6FC"/>
                </a:solidFill>
                <a:latin typeface="Calibri" pitchFamily="34" charset="0"/>
                <a:ea typeface="Calibri" pitchFamily="34" charset="-122"/>
                <a:cs typeface="Calibri" pitchFamily="34" charset="-120"/>
              </a:rPr>
              <a:t>• Patch weaknesses</a:t>
            </a:r>
            <a:endParaRPr lang="en-US" sz="1200" dirty="0"/>
          </a:p>
        </p:txBody>
      </p:sp>
      <p:sp>
        <p:nvSpPr>
          <p:cNvPr id="32" name="Text 28"/>
          <p:cNvSpPr/>
          <p:nvPr/>
        </p:nvSpPr>
        <p:spPr>
          <a:xfrm>
            <a:off x="6446520" y="3392424"/>
            <a:ext cx="2286000" cy="365760"/>
          </a:xfrm>
          <a:prstGeom prst="rect">
            <a:avLst/>
          </a:prstGeom>
          <a:noFill/>
          <a:ln/>
        </p:spPr>
        <p:txBody>
          <a:bodyPr wrap="square" lIns="0" tIns="0" rIns="0" bIns="0" rtlCol="0" anchor="ctr"/>
          <a:lstStyle/>
          <a:p>
            <a:pPr marL="0" indent="0">
              <a:buNone/>
            </a:pPr>
            <a:r>
              <a:rPr lang="en-US" sz="1200" dirty="0">
                <a:solidFill>
                  <a:srgbClr val="F0F6FC"/>
                </a:solidFill>
                <a:latin typeface="Calibri" pitchFamily="34" charset="0"/>
                <a:ea typeface="Calibri" pitchFamily="34" charset="-122"/>
                <a:cs typeface="Calibri" pitchFamily="34" charset="-120"/>
              </a:rPr>
              <a:t>• Incident response</a:t>
            </a:r>
            <a:endParaRPr lang="en-US" sz="1200" dirty="0"/>
          </a:p>
        </p:txBody>
      </p:sp>
      <p:sp>
        <p:nvSpPr>
          <p:cNvPr id="33" name="Text 29"/>
          <p:cNvSpPr/>
          <p:nvPr/>
        </p:nvSpPr>
        <p:spPr>
          <a:xfrm>
            <a:off x="6446520" y="3831336"/>
            <a:ext cx="2286000" cy="365760"/>
          </a:xfrm>
          <a:prstGeom prst="rect">
            <a:avLst/>
          </a:prstGeom>
          <a:noFill/>
          <a:ln/>
        </p:spPr>
        <p:txBody>
          <a:bodyPr wrap="square" lIns="0" tIns="0" rIns="0" bIns="0" rtlCol="0" anchor="ctr"/>
          <a:lstStyle/>
          <a:p>
            <a:pPr marL="0" indent="0">
              <a:buNone/>
            </a:pPr>
            <a:r>
              <a:rPr lang="en-US" sz="1200" dirty="0">
                <a:solidFill>
                  <a:srgbClr val="F0F6FC"/>
                </a:solidFill>
                <a:latin typeface="Calibri" pitchFamily="34" charset="0"/>
                <a:ea typeface="Calibri" pitchFamily="34" charset="-122"/>
                <a:cs typeface="Calibri" pitchFamily="34" charset="-120"/>
              </a:rPr>
              <a:t>• Harden systems</a:t>
            </a:r>
            <a:endParaRPr lang="en-US" sz="1200" dirty="0"/>
          </a:p>
        </p:txBody>
      </p:sp>
      <p:sp>
        <p:nvSpPr>
          <p:cNvPr id="35" name="Shape 31"/>
          <p:cNvSpPr/>
          <p:nvPr/>
        </p:nvSpPr>
        <p:spPr>
          <a:xfrm>
            <a:off x="0" y="4617720"/>
            <a:ext cx="9144000" cy="36576"/>
          </a:xfrm>
          <a:prstGeom prst="rect">
            <a:avLst/>
          </a:prstGeom>
          <a:solidFill>
            <a:srgbClr val="A855F7"/>
          </a:solidFill>
          <a:ln/>
        </p:spPr>
        <p:txBody>
          <a:bodyPr/>
          <a:lstStyle/>
          <a:p>
            <a:endParaRPr lang="en-IN"/>
          </a:p>
        </p:txBody>
      </p:sp>
      <p:sp>
        <p:nvSpPr>
          <p:cNvPr id="36" name="Text 32"/>
          <p:cNvSpPr/>
          <p:nvPr/>
        </p:nvSpPr>
        <p:spPr>
          <a:xfrm>
            <a:off x="182880" y="4654296"/>
            <a:ext cx="8778240" cy="457200"/>
          </a:xfrm>
          <a:prstGeom prst="rect">
            <a:avLst/>
          </a:prstGeom>
          <a:noFill/>
          <a:ln/>
        </p:spPr>
        <p:txBody>
          <a:bodyPr wrap="square" lIns="0" tIns="0" rIns="0" bIns="0" rtlCol="0" anchor="ctr"/>
          <a:lstStyle/>
          <a:p>
            <a:pPr marL="0" indent="0">
              <a:buNone/>
            </a:pPr>
            <a:r>
              <a:rPr lang="en-US" sz="1050" i="1" dirty="0">
                <a:solidFill>
                  <a:srgbClr val="8B949E"/>
                </a:solidFill>
                <a:latin typeface="Calibri" pitchFamily="34" charset="0"/>
                <a:ea typeface="Calibri" pitchFamily="34" charset="-122"/>
                <a:cs typeface="Calibri" pitchFamily="34" charset="-120"/>
              </a:rPr>
              <a:t>📋  The Purple Team model bridges the gap between Red and Blue — attack findings are directly fed into defensive improvements, and defenders share intelligence back with attackers. The result is a continuous security improvement loop, not a one-time exercise.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63946"/>
          </a:solidFill>
          <a:ln/>
        </p:spPr>
        <p:txBody>
          <a:bodyPr/>
          <a:lstStyle/>
          <a:p>
            <a:endParaRPr lang="en-IN"/>
          </a:p>
        </p:txBody>
      </p:sp>
      <p:sp>
        <p:nvSpPr>
          <p:cNvPr id="3" name="Shape 1"/>
          <p:cNvSpPr/>
          <p:nvPr/>
        </p:nvSpPr>
        <p:spPr>
          <a:xfrm>
            <a:off x="9034272" y="0"/>
            <a:ext cx="109728" cy="5143500"/>
          </a:xfrm>
          <a:prstGeom prst="rect">
            <a:avLst/>
          </a:prstGeom>
          <a:solidFill>
            <a:srgbClr val="06D6A0"/>
          </a:solidFill>
          <a:ln/>
        </p:spPr>
        <p:txBody>
          <a:bodyPr/>
          <a:lstStyle/>
          <a:p>
            <a:endParaRPr lang="en-IN"/>
          </a:p>
        </p:txBody>
      </p:sp>
      <p:sp>
        <p:nvSpPr>
          <p:cNvPr id="4" name="Shape 2"/>
          <p:cNvSpPr/>
          <p:nvPr/>
        </p:nvSpPr>
        <p:spPr>
          <a:xfrm>
            <a:off x="109728" y="0"/>
            <a:ext cx="8924544" cy="73152"/>
          </a:xfrm>
          <a:prstGeom prst="rect">
            <a:avLst/>
          </a:prstGeom>
          <a:solidFill>
            <a:srgbClr val="A855F7"/>
          </a:solidFill>
          <a:ln/>
        </p:spPr>
        <p:txBody>
          <a:bodyPr/>
          <a:lstStyle/>
          <a:p>
            <a:endParaRPr lang="en-IN"/>
          </a:p>
        </p:txBody>
      </p:sp>
      <p:sp>
        <p:nvSpPr>
          <p:cNvPr id="5" name="Shape 3"/>
          <p:cNvSpPr/>
          <p:nvPr/>
        </p:nvSpPr>
        <p:spPr>
          <a:xfrm>
            <a:off x="3474720" y="548640"/>
            <a:ext cx="2194560" cy="2194560"/>
          </a:xfrm>
          <a:prstGeom prst="ellipse">
            <a:avLst/>
          </a:prstGeom>
          <a:solidFill>
            <a:srgbClr val="12063A"/>
          </a:solidFill>
          <a:ln/>
        </p:spPr>
        <p:txBody>
          <a:bodyPr/>
          <a:lstStyle/>
          <a:p>
            <a:endParaRPr lang="en-IN"/>
          </a:p>
        </p:txBody>
      </p:sp>
      <p:sp>
        <p:nvSpPr>
          <p:cNvPr id="6" name="Shape 4"/>
          <p:cNvSpPr/>
          <p:nvPr/>
        </p:nvSpPr>
        <p:spPr>
          <a:xfrm>
            <a:off x="3657600" y="731520"/>
            <a:ext cx="1828800" cy="1828800"/>
          </a:xfrm>
          <a:prstGeom prst="ellipse">
            <a:avLst/>
          </a:prstGeom>
          <a:solidFill>
            <a:srgbClr val="1F0D52"/>
          </a:solidFill>
          <a:ln/>
        </p:spPr>
        <p:txBody>
          <a:bodyPr/>
          <a:lstStyle/>
          <a:p>
            <a:endParaRPr lang="en-IN"/>
          </a:p>
        </p:txBody>
      </p:sp>
      <p:pic>
        <p:nvPicPr>
          <p:cNvPr id="7" name="Image 0" descr="preencoded.png"/>
          <p:cNvPicPr>
            <a:picLocks noChangeAspect="1"/>
          </p:cNvPicPr>
          <p:nvPr/>
        </p:nvPicPr>
        <p:blipFill>
          <a:blip r:embed="rId3"/>
          <a:stretch>
            <a:fillRect/>
          </a:stretch>
        </p:blipFill>
        <p:spPr>
          <a:xfrm>
            <a:off x="3749040" y="914400"/>
            <a:ext cx="731520" cy="731520"/>
          </a:xfrm>
          <a:prstGeom prst="rect">
            <a:avLst/>
          </a:prstGeom>
        </p:spPr>
      </p:pic>
      <p:pic>
        <p:nvPicPr>
          <p:cNvPr id="8" name="Image 1" descr="preencoded.png"/>
          <p:cNvPicPr>
            <a:picLocks noChangeAspect="1"/>
          </p:cNvPicPr>
          <p:nvPr/>
        </p:nvPicPr>
        <p:blipFill>
          <a:blip r:embed="rId4"/>
          <a:stretch>
            <a:fillRect/>
          </a:stretch>
        </p:blipFill>
        <p:spPr>
          <a:xfrm>
            <a:off x="4663440" y="914400"/>
            <a:ext cx="731520" cy="731520"/>
          </a:xfrm>
          <a:prstGeom prst="rect">
            <a:avLst/>
          </a:prstGeom>
        </p:spPr>
      </p:pic>
      <p:sp>
        <p:nvSpPr>
          <p:cNvPr id="9" name="Text 5"/>
          <p:cNvSpPr/>
          <p:nvPr/>
        </p:nvSpPr>
        <p:spPr>
          <a:xfrm>
            <a:off x="274320" y="2834640"/>
            <a:ext cx="8595360" cy="777240"/>
          </a:xfrm>
          <a:prstGeom prst="rect">
            <a:avLst/>
          </a:prstGeom>
          <a:noFill/>
          <a:ln/>
        </p:spPr>
        <p:txBody>
          <a:bodyPr wrap="square" lIns="0" tIns="0" rIns="0" bIns="0" rtlCol="0" anchor="ctr"/>
          <a:lstStyle/>
          <a:p>
            <a:pPr marL="0" indent="0" algn="ctr">
              <a:buNone/>
            </a:pPr>
            <a:r>
              <a:rPr lang="en-US" sz="5200" b="1" dirty="0">
                <a:solidFill>
                  <a:srgbClr val="00B0F0"/>
                </a:solidFill>
                <a:latin typeface="Arial Black" pitchFamily="34" charset="0"/>
                <a:ea typeface="Arial Black" pitchFamily="34" charset="-122"/>
                <a:cs typeface="Arial Black" pitchFamily="34" charset="-120"/>
              </a:rPr>
              <a:t>THANK YOU</a:t>
            </a:r>
            <a:endParaRPr lang="en-US" sz="5200" dirty="0">
              <a:solidFill>
                <a:srgbClr val="00B0F0"/>
              </a:solidFill>
            </a:endParaRPr>
          </a:p>
        </p:txBody>
      </p:sp>
      <p:sp>
        <p:nvSpPr>
          <p:cNvPr id="10" name="Shape 6"/>
          <p:cNvSpPr/>
          <p:nvPr/>
        </p:nvSpPr>
        <p:spPr>
          <a:xfrm>
            <a:off x="1371600" y="3639312"/>
            <a:ext cx="2743200" cy="54864"/>
          </a:xfrm>
          <a:prstGeom prst="rect">
            <a:avLst/>
          </a:prstGeom>
          <a:solidFill>
            <a:srgbClr val="E63946"/>
          </a:solidFill>
          <a:ln/>
        </p:spPr>
        <p:txBody>
          <a:bodyPr/>
          <a:lstStyle/>
          <a:p>
            <a:endParaRPr lang="en-IN"/>
          </a:p>
        </p:txBody>
      </p:sp>
      <p:sp>
        <p:nvSpPr>
          <p:cNvPr id="11" name="Shape 7"/>
          <p:cNvSpPr/>
          <p:nvPr/>
        </p:nvSpPr>
        <p:spPr>
          <a:xfrm>
            <a:off x="5029200" y="3639312"/>
            <a:ext cx="2743200" cy="54864"/>
          </a:xfrm>
          <a:prstGeom prst="rect">
            <a:avLst/>
          </a:prstGeom>
          <a:solidFill>
            <a:srgbClr val="06D6A0"/>
          </a:solidFill>
          <a:ln/>
        </p:spPr>
        <p:txBody>
          <a:bodyPr/>
          <a:lstStyle/>
          <a:p>
            <a:endParaRPr lang="en-IN"/>
          </a:p>
        </p:txBody>
      </p:sp>
      <p:sp>
        <p:nvSpPr>
          <p:cNvPr id="12" name="Shape 8"/>
          <p:cNvSpPr/>
          <p:nvPr/>
        </p:nvSpPr>
        <p:spPr>
          <a:xfrm>
            <a:off x="4114800" y="3639312"/>
            <a:ext cx="914400" cy="54864"/>
          </a:xfrm>
          <a:prstGeom prst="rect">
            <a:avLst/>
          </a:prstGeom>
          <a:solidFill>
            <a:srgbClr val="A855F7"/>
          </a:solidFill>
          <a:ln/>
        </p:spPr>
        <p:txBody>
          <a:bodyPr/>
          <a:lstStyle/>
          <a:p>
            <a:endParaRPr lang="en-IN"/>
          </a:p>
        </p:txBody>
      </p:sp>
      <p:sp>
        <p:nvSpPr>
          <p:cNvPr id="13" name="Text 9"/>
          <p:cNvSpPr/>
          <p:nvPr/>
        </p:nvSpPr>
        <p:spPr>
          <a:xfrm>
            <a:off x="457200" y="3749040"/>
            <a:ext cx="8229600" cy="411480"/>
          </a:xfrm>
          <a:prstGeom prst="rect">
            <a:avLst/>
          </a:prstGeom>
          <a:noFill/>
          <a:ln/>
        </p:spPr>
        <p:txBody>
          <a:bodyPr wrap="square" lIns="0" tIns="0" rIns="0" bIns="0" rtlCol="0" anchor="ctr"/>
          <a:lstStyle/>
          <a:p>
            <a:pPr marL="0" indent="0" algn="ctr">
              <a:buNone/>
            </a:pPr>
            <a:r>
              <a:rPr lang="en-US" sz="1500" i="1" dirty="0">
                <a:solidFill>
                  <a:srgbClr val="8B949E"/>
                </a:solidFill>
                <a:latin typeface="Calibri" pitchFamily="34" charset="0"/>
                <a:ea typeface="Calibri" pitchFamily="34" charset="-122"/>
                <a:cs typeface="Calibri" pitchFamily="34" charset="-120"/>
              </a:rPr>
              <a:t>Cybersecurity is a continuous journey — not a destination.</a:t>
            </a:r>
            <a:endParaRPr lang="en-US" sz="1500" dirty="0"/>
          </a:p>
        </p:txBody>
      </p:sp>
      <p:sp>
        <p:nvSpPr>
          <p:cNvPr id="14" name="Shape 10"/>
          <p:cNvSpPr/>
          <p:nvPr/>
        </p:nvSpPr>
        <p:spPr>
          <a:xfrm>
            <a:off x="914399" y="4242816"/>
            <a:ext cx="1453415" cy="274320"/>
          </a:xfrm>
          <a:prstGeom prst="rect">
            <a:avLst/>
          </a:prstGeom>
          <a:solidFill>
            <a:srgbClr val="161B22"/>
          </a:solidFill>
          <a:ln/>
        </p:spPr>
        <p:txBody>
          <a:bodyPr/>
          <a:lstStyle/>
          <a:p>
            <a:endParaRPr lang="en-IN"/>
          </a:p>
        </p:txBody>
      </p:sp>
      <p:sp>
        <p:nvSpPr>
          <p:cNvPr id="20" name="Shape 14"/>
          <p:cNvSpPr/>
          <p:nvPr/>
        </p:nvSpPr>
        <p:spPr>
          <a:xfrm>
            <a:off x="6126480" y="4224528"/>
            <a:ext cx="2286000" cy="502920"/>
          </a:xfrm>
          <a:prstGeom prst="rect">
            <a:avLst/>
          </a:prstGeom>
          <a:solidFill>
            <a:srgbClr val="161B22"/>
          </a:solidFill>
          <a:ln/>
        </p:spPr>
        <p:txBody>
          <a:bodyPr/>
          <a:lstStyle/>
          <a:p>
            <a:endParaRPr lang="en-IN"/>
          </a:p>
        </p:txBody>
      </p:sp>
    </p:spTree>
  </p:cSld>
  <p:clrMapOvr>
    <a:masterClrMapping/>
  </p:clrMapOvr>
</p:sld>
</file>

<file path=ppt/theme/theme1.xml><?xml version="1.0" encoding="utf-8"?>
<a:theme xmlns:a="http://schemas.openxmlformats.org/drawingml/2006/main" name="Dotnet Technology &amp; XM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WSA PPT 1</Template>
  <TotalTime>624</TotalTime>
  <Words>660</Words>
  <Application>Microsoft Office PowerPoint</Application>
  <PresentationFormat>On-screen Show (16:9)</PresentationFormat>
  <Paragraphs>93</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Arial Black</vt:lpstr>
      <vt:lpstr>Calibri</vt:lpstr>
      <vt:lpstr>Corbel</vt:lpstr>
      <vt:lpstr>Dotnet Technology &amp; XML</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Offensive &amp; Defensive Security</dc:title>
  <dc:subject>PptxGenJS Presentation</dc:subject>
  <dc:creator>PptxGenJS</dc:creator>
  <cp:lastModifiedBy>rajesh mediboina</cp:lastModifiedBy>
  <cp:revision>4</cp:revision>
  <dcterms:created xsi:type="dcterms:W3CDTF">2026-03-15T19:21:26Z</dcterms:created>
  <dcterms:modified xsi:type="dcterms:W3CDTF">2026-03-17T03:48:53Z</dcterms:modified>
</cp:coreProperties>
</file>